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224" y="3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6063" y="421894"/>
            <a:ext cx="327279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540" y="149478"/>
            <a:ext cx="10954918" cy="1285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9065" y="2067814"/>
            <a:ext cx="9373869" cy="3689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3_pr_transition-duration.as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1F5F"/>
                </a:solidFill>
              </a:rPr>
              <a:t>CSS</a:t>
            </a:r>
            <a:r>
              <a:rPr sz="3600" spc="-90" dirty="0">
                <a:solidFill>
                  <a:srgbClr val="001F5F"/>
                </a:solidFill>
              </a:rPr>
              <a:t> </a:t>
            </a:r>
            <a:r>
              <a:rPr sz="3600" spc="175" dirty="0">
                <a:solidFill>
                  <a:srgbClr val="001F5F"/>
                </a:solidFill>
              </a:rPr>
              <a:t>Chapter</a:t>
            </a:r>
            <a:r>
              <a:rPr sz="3600" spc="-90" dirty="0">
                <a:solidFill>
                  <a:srgbClr val="001F5F"/>
                </a:solidFill>
              </a:rPr>
              <a:t> </a:t>
            </a:r>
            <a:r>
              <a:rPr sz="3600" spc="70" dirty="0">
                <a:solidFill>
                  <a:srgbClr val="001F5F"/>
                </a:solidFill>
              </a:rPr>
              <a:t>3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9856" y="2725927"/>
            <a:ext cx="6536690" cy="118046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 indent="283210">
              <a:lnSpc>
                <a:spcPts val="4300"/>
              </a:lnSpc>
              <a:spcBef>
                <a:spcPts val="655"/>
              </a:spcBef>
            </a:pPr>
            <a:r>
              <a:rPr sz="4000" spc="155" dirty="0">
                <a:solidFill>
                  <a:srgbClr val="006FC0"/>
                </a:solidFill>
                <a:latin typeface="Arial MT"/>
                <a:cs typeface="Arial MT"/>
              </a:rPr>
              <a:t>Transforms,</a:t>
            </a:r>
            <a:r>
              <a:rPr sz="4000" spc="-114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4000" spc="140" dirty="0">
                <a:solidFill>
                  <a:srgbClr val="006FC0"/>
                </a:solidFill>
                <a:latin typeface="Arial MT"/>
                <a:cs typeface="Arial MT"/>
              </a:rPr>
              <a:t>Transitions, </a:t>
            </a:r>
            <a:r>
              <a:rPr sz="4000" spc="180" dirty="0">
                <a:solidFill>
                  <a:srgbClr val="006FC0"/>
                </a:solidFill>
                <a:latin typeface="Arial MT"/>
                <a:cs typeface="Arial MT"/>
              </a:rPr>
              <a:t>Animations</a:t>
            </a:r>
            <a:r>
              <a:rPr sz="400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4000" spc="370" dirty="0">
                <a:solidFill>
                  <a:srgbClr val="006FC0"/>
                </a:solidFill>
                <a:latin typeface="Arial MT"/>
                <a:cs typeface="Arial MT"/>
              </a:rPr>
              <a:t>&amp;</a:t>
            </a:r>
            <a:r>
              <a:rPr sz="400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4000" spc="125" dirty="0">
                <a:solidFill>
                  <a:srgbClr val="006FC0"/>
                </a:solidFill>
                <a:latin typeface="Arial MT"/>
                <a:cs typeface="Arial MT"/>
              </a:rPr>
              <a:t>Media</a:t>
            </a:r>
            <a:r>
              <a:rPr sz="4000" spc="-9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4000" spc="170" dirty="0">
                <a:solidFill>
                  <a:srgbClr val="006FC0"/>
                </a:solidFill>
                <a:latin typeface="Arial MT"/>
                <a:cs typeface="Arial MT"/>
              </a:rPr>
              <a:t>Query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0258" y="1894848"/>
            <a:ext cx="3548510" cy="37226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944" y="6258324"/>
            <a:ext cx="406907" cy="3969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1658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5470" y="1754947"/>
            <a:ext cx="2121235" cy="36187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8170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CSS3</a:t>
            </a:r>
            <a:r>
              <a:rPr sz="4000" spc="-50" dirty="0"/>
              <a:t> </a:t>
            </a:r>
            <a:r>
              <a:rPr sz="4000" spc="95" dirty="0"/>
              <a:t>2D</a:t>
            </a:r>
            <a:r>
              <a:rPr sz="4000" spc="-50" dirty="0"/>
              <a:t> </a:t>
            </a:r>
            <a:r>
              <a:rPr sz="4000" spc="160" dirty="0"/>
              <a:t>Transforms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737616" y="4721352"/>
            <a:ext cx="1610995" cy="500380"/>
          </a:xfrm>
          <a:custGeom>
            <a:avLst/>
            <a:gdLst/>
            <a:ahLst/>
            <a:cxnLst/>
            <a:rect l="l" t="t" r="r" b="b"/>
            <a:pathLst>
              <a:path w="1610995" h="500379">
                <a:moveTo>
                  <a:pt x="0" y="83312"/>
                </a:moveTo>
                <a:lnTo>
                  <a:pt x="6547" y="50899"/>
                </a:lnTo>
                <a:lnTo>
                  <a:pt x="24401" y="24415"/>
                </a:lnTo>
                <a:lnTo>
                  <a:pt x="50883" y="6552"/>
                </a:lnTo>
                <a:lnTo>
                  <a:pt x="83312" y="0"/>
                </a:lnTo>
                <a:lnTo>
                  <a:pt x="1527556" y="0"/>
                </a:lnTo>
                <a:lnTo>
                  <a:pt x="1559968" y="6552"/>
                </a:lnTo>
                <a:lnTo>
                  <a:pt x="1586452" y="24415"/>
                </a:lnTo>
                <a:lnTo>
                  <a:pt x="1604315" y="50899"/>
                </a:lnTo>
                <a:lnTo>
                  <a:pt x="1610867" y="83312"/>
                </a:lnTo>
                <a:lnTo>
                  <a:pt x="1610867" y="416560"/>
                </a:lnTo>
                <a:lnTo>
                  <a:pt x="1604315" y="448972"/>
                </a:lnTo>
                <a:lnTo>
                  <a:pt x="1586452" y="475456"/>
                </a:lnTo>
                <a:lnTo>
                  <a:pt x="1559968" y="493319"/>
                </a:lnTo>
                <a:lnTo>
                  <a:pt x="1527556" y="499872"/>
                </a:lnTo>
                <a:lnTo>
                  <a:pt x="83312" y="499872"/>
                </a:lnTo>
                <a:lnTo>
                  <a:pt x="50883" y="493319"/>
                </a:lnTo>
                <a:lnTo>
                  <a:pt x="24401" y="475456"/>
                </a:lnTo>
                <a:lnTo>
                  <a:pt x="6547" y="448972"/>
                </a:lnTo>
                <a:lnTo>
                  <a:pt x="0" y="416560"/>
                </a:lnTo>
                <a:lnTo>
                  <a:pt x="0" y="83312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4514" y="4802251"/>
            <a:ext cx="1358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latin typeface="Arial MT"/>
                <a:cs typeface="Arial MT"/>
              </a:rPr>
              <a:t>Translate()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92323" y="4706111"/>
            <a:ext cx="1356360" cy="500380"/>
          </a:xfrm>
          <a:custGeom>
            <a:avLst/>
            <a:gdLst/>
            <a:ahLst/>
            <a:cxnLst/>
            <a:rect l="l" t="t" r="r" b="b"/>
            <a:pathLst>
              <a:path w="1356360" h="500379">
                <a:moveTo>
                  <a:pt x="0" y="83312"/>
                </a:moveTo>
                <a:lnTo>
                  <a:pt x="6552" y="50899"/>
                </a:lnTo>
                <a:lnTo>
                  <a:pt x="24415" y="24415"/>
                </a:lnTo>
                <a:lnTo>
                  <a:pt x="50899" y="6552"/>
                </a:lnTo>
                <a:lnTo>
                  <a:pt x="83312" y="0"/>
                </a:lnTo>
                <a:lnTo>
                  <a:pt x="1273048" y="0"/>
                </a:lnTo>
                <a:lnTo>
                  <a:pt x="1305460" y="6552"/>
                </a:lnTo>
                <a:lnTo>
                  <a:pt x="1331944" y="24415"/>
                </a:lnTo>
                <a:lnTo>
                  <a:pt x="1349807" y="50899"/>
                </a:lnTo>
                <a:lnTo>
                  <a:pt x="1356360" y="83312"/>
                </a:lnTo>
                <a:lnTo>
                  <a:pt x="1356360" y="416560"/>
                </a:lnTo>
                <a:lnTo>
                  <a:pt x="1349807" y="448972"/>
                </a:lnTo>
                <a:lnTo>
                  <a:pt x="1331944" y="475456"/>
                </a:lnTo>
                <a:lnTo>
                  <a:pt x="1305460" y="493319"/>
                </a:lnTo>
                <a:lnTo>
                  <a:pt x="1273048" y="499871"/>
                </a:lnTo>
                <a:lnTo>
                  <a:pt x="83312" y="499871"/>
                </a:lnTo>
                <a:lnTo>
                  <a:pt x="50899" y="493319"/>
                </a:lnTo>
                <a:lnTo>
                  <a:pt x="24415" y="475456"/>
                </a:lnTo>
                <a:lnTo>
                  <a:pt x="6552" y="448972"/>
                </a:lnTo>
                <a:lnTo>
                  <a:pt x="0" y="416560"/>
                </a:lnTo>
                <a:lnTo>
                  <a:pt x="0" y="83312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65298" y="4787265"/>
            <a:ext cx="1012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5" dirty="0">
                <a:latin typeface="Arial MT"/>
                <a:cs typeface="Arial MT"/>
              </a:rPr>
              <a:t>Rotate()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62984" y="4721352"/>
            <a:ext cx="1358265" cy="500380"/>
          </a:xfrm>
          <a:custGeom>
            <a:avLst/>
            <a:gdLst/>
            <a:ahLst/>
            <a:cxnLst/>
            <a:rect l="l" t="t" r="r" b="b"/>
            <a:pathLst>
              <a:path w="1358264" h="500379">
                <a:moveTo>
                  <a:pt x="0" y="83312"/>
                </a:moveTo>
                <a:lnTo>
                  <a:pt x="6552" y="50899"/>
                </a:lnTo>
                <a:lnTo>
                  <a:pt x="24415" y="24415"/>
                </a:lnTo>
                <a:lnTo>
                  <a:pt x="50899" y="6552"/>
                </a:lnTo>
                <a:lnTo>
                  <a:pt x="83312" y="0"/>
                </a:lnTo>
                <a:lnTo>
                  <a:pt x="1274571" y="0"/>
                </a:lnTo>
                <a:lnTo>
                  <a:pt x="1306984" y="6552"/>
                </a:lnTo>
                <a:lnTo>
                  <a:pt x="1333468" y="24415"/>
                </a:lnTo>
                <a:lnTo>
                  <a:pt x="1351331" y="50899"/>
                </a:lnTo>
                <a:lnTo>
                  <a:pt x="1357883" y="83312"/>
                </a:lnTo>
                <a:lnTo>
                  <a:pt x="1357883" y="416560"/>
                </a:lnTo>
                <a:lnTo>
                  <a:pt x="1351331" y="448972"/>
                </a:lnTo>
                <a:lnTo>
                  <a:pt x="1333468" y="475456"/>
                </a:lnTo>
                <a:lnTo>
                  <a:pt x="1306984" y="493319"/>
                </a:lnTo>
                <a:lnTo>
                  <a:pt x="1274571" y="499872"/>
                </a:lnTo>
                <a:lnTo>
                  <a:pt x="83312" y="499872"/>
                </a:lnTo>
                <a:lnTo>
                  <a:pt x="50899" y="493319"/>
                </a:lnTo>
                <a:lnTo>
                  <a:pt x="24415" y="475456"/>
                </a:lnTo>
                <a:lnTo>
                  <a:pt x="6552" y="448972"/>
                </a:lnTo>
                <a:lnTo>
                  <a:pt x="0" y="416560"/>
                </a:lnTo>
                <a:lnTo>
                  <a:pt x="0" y="83312"/>
                </a:lnTo>
                <a:close/>
              </a:path>
            </a:pathLst>
          </a:custGeom>
          <a:ln w="12699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94759" y="4802251"/>
            <a:ext cx="8959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5" dirty="0">
                <a:latin typeface="Arial MT"/>
                <a:cs typeface="Arial MT"/>
              </a:rPr>
              <a:t>Scale()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62600" y="4721352"/>
            <a:ext cx="1358265" cy="500380"/>
          </a:xfrm>
          <a:custGeom>
            <a:avLst/>
            <a:gdLst/>
            <a:ahLst/>
            <a:cxnLst/>
            <a:rect l="l" t="t" r="r" b="b"/>
            <a:pathLst>
              <a:path w="1358265" h="500379">
                <a:moveTo>
                  <a:pt x="0" y="83312"/>
                </a:moveTo>
                <a:lnTo>
                  <a:pt x="6552" y="50899"/>
                </a:lnTo>
                <a:lnTo>
                  <a:pt x="24415" y="24415"/>
                </a:lnTo>
                <a:lnTo>
                  <a:pt x="50899" y="6552"/>
                </a:lnTo>
                <a:lnTo>
                  <a:pt x="83312" y="0"/>
                </a:lnTo>
                <a:lnTo>
                  <a:pt x="1274572" y="0"/>
                </a:lnTo>
                <a:lnTo>
                  <a:pt x="1306984" y="6552"/>
                </a:lnTo>
                <a:lnTo>
                  <a:pt x="1333468" y="24415"/>
                </a:lnTo>
                <a:lnTo>
                  <a:pt x="1351331" y="50899"/>
                </a:lnTo>
                <a:lnTo>
                  <a:pt x="1357883" y="83312"/>
                </a:lnTo>
                <a:lnTo>
                  <a:pt x="1357883" y="416560"/>
                </a:lnTo>
                <a:lnTo>
                  <a:pt x="1351331" y="448972"/>
                </a:lnTo>
                <a:lnTo>
                  <a:pt x="1333468" y="475456"/>
                </a:lnTo>
                <a:lnTo>
                  <a:pt x="1306984" y="493319"/>
                </a:lnTo>
                <a:lnTo>
                  <a:pt x="1274572" y="499872"/>
                </a:lnTo>
                <a:lnTo>
                  <a:pt x="83312" y="499872"/>
                </a:lnTo>
                <a:lnTo>
                  <a:pt x="50899" y="493319"/>
                </a:lnTo>
                <a:lnTo>
                  <a:pt x="24415" y="475456"/>
                </a:lnTo>
                <a:lnTo>
                  <a:pt x="6552" y="448972"/>
                </a:lnTo>
                <a:lnTo>
                  <a:pt x="0" y="416560"/>
                </a:lnTo>
                <a:lnTo>
                  <a:pt x="0" y="83312"/>
                </a:lnTo>
                <a:close/>
              </a:path>
            </a:pathLst>
          </a:custGeom>
          <a:ln w="12699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08726" y="4802251"/>
            <a:ext cx="8667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5" dirty="0">
                <a:latin typeface="Arial MT"/>
                <a:cs typeface="Arial MT"/>
              </a:rPr>
              <a:t>Skew()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35368" y="4721352"/>
            <a:ext cx="1356360" cy="500380"/>
          </a:xfrm>
          <a:custGeom>
            <a:avLst/>
            <a:gdLst/>
            <a:ahLst/>
            <a:cxnLst/>
            <a:rect l="l" t="t" r="r" b="b"/>
            <a:pathLst>
              <a:path w="1356359" h="500379">
                <a:moveTo>
                  <a:pt x="0" y="83312"/>
                </a:moveTo>
                <a:lnTo>
                  <a:pt x="6552" y="50899"/>
                </a:lnTo>
                <a:lnTo>
                  <a:pt x="24415" y="24415"/>
                </a:lnTo>
                <a:lnTo>
                  <a:pt x="50899" y="6552"/>
                </a:lnTo>
                <a:lnTo>
                  <a:pt x="83311" y="0"/>
                </a:lnTo>
                <a:lnTo>
                  <a:pt x="1273048" y="0"/>
                </a:lnTo>
                <a:lnTo>
                  <a:pt x="1305460" y="6552"/>
                </a:lnTo>
                <a:lnTo>
                  <a:pt x="1331944" y="24415"/>
                </a:lnTo>
                <a:lnTo>
                  <a:pt x="1349807" y="50899"/>
                </a:lnTo>
                <a:lnTo>
                  <a:pt x="1356359" y="83312"/>
                </a:lnTo>
                <a:lnTo>
                  <a:pt x="1356359" y="416560"/>
                </a:lnTo>
                <a:lnTo>
                  <a:pt x="1349807" y="448972"/>
                </a:lnTo>
                <a:lnTo>
                  <a:pt x="1331944" y="475456"/>
                </a:lnTo>
                <a:lnTo>
                  <a:pt x="1305460" y="493319"/>
                </a:lnTo>
                <a:lnTo>
                  <a:pt x="1273048" y="499872"/>
                </a:lnTo>
                <a:lnTo>
                  <a:pt x="83311" y="499872"/>
                </a:lnTo>
                <a:lnTo>
                  <a:pt x="50899" y="493319"/>
                </a:lnTo>
                <a:lnTo>
                  <a:pt x="24415" y="475456"/>
                </a:lnTo>
                <a:lnTo>
                  <a:pt x="6552" y="448972"/>
                </a:lnTo>
                <a:lnTo>
                  <a:pt x="0" y="416560"/>
                </a:lnTo>
                <a:lnTo>
                  <a:pt x="0" y="83312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331709" y="4802251"/>
            <a:ext cx="964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latin typeface="Arial MT"/>
                <a:cs typeface="Arial MT"/>
              </a:rPr>
              <a:t>Matrix()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312" y="6028981"/>
            <a:ext cx="563880" cy="55012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29487" y="1704594"/>
            <a:ext cx="5715000" cy="275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695" marR="3683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solidFill>
                  <a:srgbClr val="1F3863"/>
                </a:solidFill>
                <a:latin typeface="Arial MT"/>
                <a:cs typeface="Arial MT"/>
              </a:rPr>
              <a:t>With</a:t>
            </a:r>
            <a:r>
              <a:rPr sz="1800" spc="-1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3863"/>
                </a:solidFill>
                <a:latin typeface="Arial MT"/>
                <a:cs typeface="Arial MT"/>
              </a:rPr>
              <a:t>CSS3</a:t>
            </a:r>
            <a:r>
              <a:rPr sz="1800" spc="1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1F3863"/>
                </a:solidFill>
                <a:latin typeface="Arial MT"/>
                <a:cs typeface="Arial MT"/>
              </a:rPr>
              <a:t>transform,</a:t>
            </a:r>
            <a:r>
              <a:rPr sz="1800" spc="-1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1F3863"/>
                </a:solidFill>
                <a:latin typeface="Arial MT"/>
                <a:cs typeface="Arial MT"/>
              </a:rPr>
              <a:t>we</a:t>
            </a:r>
            <a:r>
              <a:rPr sz="1800" spc="-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1F3863"/>
                </a:solidFill>
                <a:latin typeface="Arial MT"/>
                <a:cs typeface="Arial MT"/>
              </a:rPr>
              <a:t>can</a:t>
            </a:r>
            <a:r>
              <a:rPr sz="1800" spc="30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3863"/>
                </a:solidFill>
                <a:latin typeface="Arial MT"/>
                <a:cs typeface="Arial MT"/>
              </a:rPr>
              <a:t>move,</a:t>
            </a:r>
            <a:r>
              <a:rPr sz="1800" spc="-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1F3863"/>
                </a:solidFill>
                <a:latin typeface="Arial MT"/>
                <a:cs typeface="Arial MT"/>
              </a:rPr>
              <a:t>scale,</a:t>
            </a:r>
            <a:r>
              <a:rPr sz="1800" spc="30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1F3863"/>
                </a:solidFill>
                <a:latin typeface="Arial MT"/>
                <a:cs typeface="Arial MT"/>
              </a:rPr>
              <a:t>turn, </a:t>
            </a:r>
            <a:r>
              <a:rPr sz="1800" spc="85" dirty="0">
                <a:solidFill>
                  <a:srgbClr val="1F3863"/>
                </a:solidFill>
                <a:latin typeface="Arial MT"/>
                <a:cs typeface="Arial MT"/>
              </a:rPr>
              <a:t>spin,</a:t>
            </a:r>
            <a:r>
              <a:rPr sz="1800" spc="-4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1F3863"/>
                </a:solidFill>
                <a:latin typeface="Arial MT"/>
                <a:cs typeface="Arial MT"/>
              </a:rPr>
              <a:t>and</a:t>
            </a:r>
            <a:r>
              <a:rPr sz="1800" spc="-4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1F3863"/>
                </a:solidFill>
                <a:latin typeface="Arial MT"/>
                <a:cs typeface="Arial MT"/>
              </a:rPr>
              <a:t>stretch</a:t>
            </a:r>
            <a:r>
              <a:rPr sz="1800" spc="-1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1F3863"/>
                </a:solidFill>
                <a:latin typeface="Arial MT"/>
                <a:cs typeface="Arial MT"/>
              </a:rPr>
              <a:t>elements.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800">
              <a:latin typeface="Arial MT"/>
              <a:cs typeface="Arial MT"/>
            </a:endParaRPr>
          </a:p>
          <a:p>
            <a:pPr marL="99695">
              <a:lnSpc>
                <a:spcPct val="100000"/>
              </a:lnSpc>
            </a:pPr>
            <a:r>
              <a:rPr sz="2000" spc="105" dirty="0">
                <a:solidFill>
                  <a:srgbClr val="006FC0"/>
                </a:solidFill>
                <a:latin typeface="Arial MT"/>
                <a:cs typeface="Arial MT"/>
              </a:rPr>
              <a:t>How</a:t>
            </a:r>
            <a:r>
              <a:rPr sz="2000" spc="-5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70" dirty="0">
                <a:solidFill>
                  <a:srgbClr val="006FC0"/>
                </a:solidFill>
                <a:latin typeface="Arial MT"/>
                <a:cs typeface="Arial MT"/>
              </a:rPr>
              <a:t>Does</a:t>
            </a:r>
            <a:r>
              <a:rPr sz="2000" spc="-7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125" dirty="0">
                <a:solidFill>
                  <a:srgbClr val="006FC0"/>
                </a:solidFill>
                <a:latin typeface="Arial MT"/>
                <a:cs typeface="Arial MT"/>
              </a:rPr>
              <a:t>it</a:t>
            </a:r>
            <a:r>
              <a:rPr sz="20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55" dirty="0">
                <a:solidFill>
                  <a:srgbClr val="006FC0"/>
                </a:solidFill>
                <a:latin typeface="Arial MT"/>
                <a:cs typeface="Arial MT"/>
              </a:rPr>
              <a:t>Work?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transform</a:t>
            </a:r>
            <a:r>
              <a:rPr sz="18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1F5F"/>
                </a:solidFill>
                <a:latin typeface="Arial MT"/>
                <a:cs typeface="Arial MT"/>
              </a:rPr>
              <a:t>effect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lets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change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shape,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size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position.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800">
              <a:latin typeface="Arial MT"/>
              <a:cs typeface="Arial MT"/>
            </a:endParaRPr>
          </a:p>
          <a:p>
            <a:pPr marL="99695">
              <a:lnSpc>
                <a:spcPct val="100000"/>
              </a:lnSpc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2D</a:t>
            </a:r>
            <a:r>
              <a:rPr sz="20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95" dirty="0">
                <a:solidFill>
                  <a:srgbClr val="006FC0"/>
                </a:solidFill>
                <a:latin typeface="Arial MT"/>
                <a:cs typeface="Arial MT"/>
              </a:rPr>
              <a:t>Transform</a:t>
            </a:r>
            <a:r>
              <a:rPr sz="20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95" dirty="0">
                <a:solidFill>
                  <a:srgbClr val="006FC0"/>
                </a:solidFill>
                <a:latin typeface="Arial MT"/>
                <a:cs typeface="Arial MT"/>
              </a:rPr>
              <a:t>methods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0283" y="3373907"/>
            <a:ext cx="2610312" cy="18168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1289" rIns="0" bIns="0" rtlCol="0">
            <a:spAutoFit/>
          </a:bodyPr>
          <a:lstStyle/>
          <a:p>
            <a:pPr marL="600710">
              <a:lnSpc>
                <a:spcPct val="100000"/>
              </a:lnSpc>
              <a:spcBef>
                <a:spcPts val="95"/>
              </a:spcBef>
            </a:pPr>
            <a:r>
              <a:rPr sz="4000" spc="175" dirty="0"/>
              <a:t>Transform</a:t>
            </a:r>
            <a:r>
              <a:rPr sz="4000" spc="-120" dirty="0"/>
              <a:t> </a:t>
            </a:r>
            <a:r>
              <a:rPr sz="4000" spc="125" dirty="0"/>
              <a:t>Translate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359" y="6243084"/>
            <a:ext cx="406908" cy="396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04671" y="2002663"/>
            <a:ext cx="5888355" cy="3016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translate()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method,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moves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from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its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1F5F"/>
                </a:solidFill>
                <a:latin typeface="Arial MT"/>
                <a:cs typeface="Arial MT"/>
              </a:rPr>
              <a:t>current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position,</a:t>
            </a:r>
            <a:r>
              <a:rPr sz="18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depending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parameters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given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left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(X-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axis)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top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(Y-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axis)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position.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F3863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1F3863"/>
                </a:solidFill>
                <a:latin typeface="Arial MT"/>
                <a:cs typeface="Arial MT"/>
              </a:rPr>
              <a:t>syntax</a:t>
            </a:r>
            <a:r>
              <a:rPr sz="1800" spc="1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1F3863"/>
                </a:solidFill>
                <a:latin typeface="Arial MT"/>
                <a:cs typeface="Arial MT"/>
              </a:rPr>
              <a:t>:</a:t>
            </a:r>
            <a:r>
              <a:rPr sz="1800" spc="-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1F3863"/>
                </a:solidFill>
                <a:latin typeface="Arial MT"/>
                <a:cs typeface="Arial MT"/>
              </a:rPr>
              <a:t>translate(X,</a:t>
            </a:r>
            <a:r>
              <a:rPr sz="1800" spc="20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F3863"/>
                </a:solidFill>
                <a:latin typeface="Arial MT"/>
                <a:cs typeface="Arial MT"/>
              </a:rPr>
              <a:t>Y).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8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</a:pPr>
            <a:r>
              <a:rPr sz="2000" b="1" spc="-10" dirty="0">
                <a:solidFill>
                  <a:srgbClr val="006FC0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889"/>
              </a:spcBef>
            </a:pPr>
            <a:r>
              <a:rPr sz="1800" spc="105" dirty="0">
                <a:solidFill>
                  <a:srgbClr val="870145"/>
                </a:solidFill>
                <a:latin typeface="Arial MT"/>
                <a:cs typeface="Arial MT"/>
              </a:rPr>
              <a:t>trnsform:</a:t>
            </a:r>
            <a:r>
              <a:rPr sz="1800" spc="-45" dirty="0">
                <a:solidFill>
                  <a:srgbClr val="870145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870145"/>
                </a:solidFill>
                <a:latin typeface="Arial MT"/>
                <a:cs typeface="Arial MT"/>
              </a:rPr>
              <a:t>translate(50px,100px);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5168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95"/>
              </a:spcBef>
            </a:pPr>
            <a:r>
              <a:rPr sz="4000" spc="175" dirty="0"/>
              <a:t>Transform</a:t>
            </a:r>
            <a:r>
              <a:rPr sz="4000" spc="-120" dirty="0"/>
              <a:t> </a:t>
            </a:r>
            <a:r>
              <a:rPr sz="4000" spc="125" dirty="0"/>
              <a:t>Rotate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2721" y="3157859"/>
            <a:ext cx="2757865" cy="2134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063" y="5858999"/>
            <a:ext cx="406908" cy="3954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7102" y="2010536"/>
            <a:ext cx="5718175" cy="328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rotate()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method,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rotates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clockwise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given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degree.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Negative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values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are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allowed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rotates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counter-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clockwise.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1F3863"/>
                </a:solidFill>
                <a:latin typeface="Arial MT"/>
                <a:cs typeface="Arial MT"/>
              </a:rPr>
              <a:t>The</a:t>
            </a:r>
            <a:r>
              <a:rPr sz="1800" spc="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1F3863"/>
                </a:solidFill>
                <a:latin typeface="Arial MT"/>
                <a:cs typeface="Arial MT"/>
              </a:rPr>
              <a:t>syntax</a:t>
            </a:r>
            <a:r>
              <a:rPr sz="1800" spc="2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C00000"/>
                </a:solidFill>
                <a:latin typeface="Arial MT"/>
                <a:cs typeface="Arial MT"/>
              </a:rPr>
              <a:t>transform:</a:t>
            </a:r>
            <a:r>
              <a:rPr sz="18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C00000"/>
                </a:solidFill>
                <a:latin typeface="Arial MT"/>
                <a:cs typeface="Arial MT"/>
              </a:rPr>
              <a:t>rotate(30deg</a:t>
            </a:r>
            <a:r>
              <a:rPr sz="1800" spc="55" dirty="0">
                <a:solidFill>
                  <a:srgbClr val="C00000"/>
                </a:solidFill>
                <a:latin typeface="Bahnschrift"/>
                <a:cs typeface="Bahnschrift"/>
              </a:rPr>
              <a:t>);</a:t>
            </a:r>
            <a:endParaRPr sz="1800">
              <a:latin typeface="Bahnschrift"/>
              <a:cs typeface="Bahnschrift"/>
            </a:endParaRPr>
          </a:p>
          <a:p>
            <a:pPr>
              <a:lnSpc>
                <a:spcPct val="100000"/>
              </a:lnSpc>
            </a:pPr>
            <a:endParaRPr sz="1800">
              <a:latin typeface="Bahnschrift"/>
              <a:cs typeface="Bahnschrift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800">
              <a:latin typeface="Bahnschrift"/>
              <a:cs typeface="Bahnschrift"/>
            </a:endParaRPr>
          </a:p>
          <a:p>
            <a:pPr marL="135890">
              <a:lnSpc>
                <a:spcPct val="100000"/>
              </a:lnSpc>
            </a:pPr>
            <a:r>
              <a:rPr sz="2400" spc="60" dirty="0">
                <a:solidFill>
                  <a:srgbClr val="006FC0"/>
                </a:solidFill>
                <a:latin typeface="Arial MT"/>
                <a:cs typeface="Arial MT"/>
              </a:rPr>
              <a:t>Example</a:t>
            </a:r>
            <a:endParaRPr sz="2400">
              <a:latin typeface="Arial MT"/>
              <a:cs typeface="Arial MT"/>
            </a:endParaRPr>
          </a:p>
          <a:p>
            <a:pPr marL="135890">
              <a:lnSpc>
                <a:spcPct val="100000"/>
              </a:lnSpc>
              <a:spcBef>
                <a:spcPts val="2545"/>
              </a:spcBef>
            </a:pPr>
            <a:r>
              <a:rPr sz="1800" spc="95" dirty="0">
                <a:solidFill>
                  <a:srgbClr val="870145"/>
                </a:solidFill>
                <a:latin typeface="Arial MT"/>
                <a:cs typeface="Arial MT"/>
              </a:rPr>
              <a:t>transform:</a:t>
            </a:r>
            <a:r>
              <a:rPr sz="1800" spc="-45" dirty="0">
                <a:solidFill>
                  <a:srgbClr val="870145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870145"/>
                </a:solidFill>
                <a:latin typeface="Arial MT"/>
                <a:cs typeface="Arial MT"/>
              </a:rPr>
              <a:t>rotate(30deg);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2433" y="3381051"/>
            <a:ext cx="2358537" cy="21921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046" rIns="0" bIns="0" rtlCol="0">
            <a:spAutoFit/>
          </a:bodyPr>
          <a:lstStyle/>
          <a:p>
            <a:pPr marL="446405">
              <a:lnSpc>
                <a:spcPct val="100000"/>
              </a:lnSpc>
              <a:spcBef>
                <a:spcPts val="95"/>
              </a:spcBef>
            </a:pPr>
            <a:r>
              <a:rPr sz="4000" spc="175" dirty="0"/>
              <a:t>Transform</a:t>
            </a:r>
            <a:r>
              <a:rPr sz="4000" spc="-120" dirty="0"/>
              <a:t> </a:t>
            </a:r>
            <a:r>
              <a:rPr sz="4000" spc="145" dirty="0"/>
              <a:t>Scale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052271" y="1914271"/>
            <a:ext cx="55327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scale()</a:t>
            </a:r>
            <a:r>
              <a:rPr sz="18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method,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increases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1F5F"/>
                </a:solidFill>
                <a:latin typeface="Arial MT"/>
                <a:cs typeface="Arial MT"/>
              </a:rPr>
              <a:t>or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decreases</a:t>
            </a:r>
            <a:r>
              <a:rPr sz="18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size,</a:t>
            </a:r>
            <a:r>
              <a:rPr sz="18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depending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parameters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given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1F5F"/>
                </a:solidFill>
                <a:latin typeface="Arial MT"/>
                <a:cs typeface="Arial MT"/>
              </a:rPr>
              <a:t>width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(X-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axis)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height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(Y-</a:t>
            </a:r>
            <a:r>
              <a:rPr sz="1800" spc="45" dirty="0">
                <a:solidFill>
                  <a:srgbClr val="001F5F"/>
                </a:solidFill>
                <a:latin typeface="Arial MT"/>
                <a:cs typeface="Arial MT"/>
              </a:rPr>
              <a:t>axis).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9236" y="4629404"/>
            <a:ext cx="2752090" cy="105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solidFill>
                  <a:srgbClr val="006FC0"/>
                </a:solidFill>
                <a:latin typeface="Arial MT"/>
                <a:cs typeface="Arial MT"/>
              </a:rPr>
              <a:t>Example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spc="95" dirty="0">
                <a:solidFill>
                  <a:srgbClr val="870145"/>
                </a:solidFill>
                <a:latin typeface="Arial MT"/>
                <a:cs typeface="Arial MT"/>
              </a:rPr>
              <a:t>transform:</a:t>
            </a:r>
            <a:r>
              <a:rPr sz="1800" spc="-45" dirty="0">
                <a:solidFill>
                  <a:srgbClr val="870145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870145"/>
                </a:solidFill>
                <a:latin typeface="Arial MT"/>
                <a:cs typeface="Arial MT"/>
              </a:rPr>
              <a:t>scale(2,4);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19" y="5618207"/>
            <a:ext cx="406908" cy="3954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7102" y="3435477"/>
            <a:ext cx="369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F3863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1F3863"/>
                </a:solidFill>
                <a:latin typeface="Arial MT"/>
                <a:cs typeface="Arial MT"/>
              </a:rPr>
              <a:t>syntax</a:t>
            </a:r>
            <a:r>
              <a:rPr sz="1800" spc="10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C00000"/>
                </a:solidFill>
                <a:latin typeface="Arial MT"/>
                <a:cs typeface="Arial MT"/>
              </a:rPr>
              <a:t>transform:</a:t>
            </a:r>
            <a:r>
              <a:rPr sz="18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C00000"/>
                </a:solidFill>
                <a:latin typeface="Arial MT"/>
                <a:cs typeface="Arial MT"/>
              </a:rPr>
              <a:t>scale(x,</a:t>
            </a:r>
            <a:r>
              <a:rPr sz="1800" spc="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25" dirty="0">
                <a:solidFill>
                  <a:srgbClr val="C00000"/>
                </a:solidFill>
                <a:latin typeface="Arial MT"/>
                <a:cs typeface="Arial MT"/>
              </a:rPr>
              <a:t>y);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020" rIns="0" bIns="0" rtlCol="0">
            <a:spAutoFit/>
          </a:bodyPr>
          <a:lstStyle/>
          <a:p>
            <a:pPr marL="370205">
              <a:lnSpc>
                <a:spcPct val="100000"/>
              </a:lnSpc>
              <a:spcBef>
                <a:spcPts val="95"/>
              </a:spcBef>
            </a:pPr>
            <a:r>
              <a:rPr sz="4000" spc="175" dirty="0"/>
              <a:t>Transform</a:t>
            </a:r>
            <a:r>
              <a:rPr sz="4000" spc="-105" dirty="0"/>
              <a:t> </a:t>
            </a:r>
            <a:r>
              <a:rPr sz="4000" spc="120" dirty="0"/>
              <a:t>Skew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5274" y="3569904"/>
            <a:ext cx="2370523" cy="2035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067" y="5429268"/>
            <a:ext cx="406907" cy="3969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6375" y="2163902"/>
            <a:ext cx="5814060" cy="320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skew()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method,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1F5F"/>
                </a:solidFill>
                <a:latin typeface="Arial MT"/>
                <a:cs typeface="Arial MT"/>
              </a:rPr>
              <a:t>turns</a:t>
            </a:r>
            <a:r>
              <a:rPr sz="1800" spc="-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given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angle,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depending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parameters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given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horizontal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(X-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axis)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vertical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(Y-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axis)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001F5F"/>
                </a:solidFill>
                <a:latin typeface="Arial MT"/>
                <a:cs typeface="Arial MT"/>
              </a:rPr>
              <a:t>lines.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800">
              <a:latin typeface="Arial MT"/>
              <a:cs typeface="Arial MT"/>
            </a:endParaRPr>
          </a:p>
          <a:p>
            <a:pPr marL="33020">
              <a:lnSpc>
                <a:spcPct val="100000"/>
              </a:lnSpc>
            </a:pPr>
            <a:r>
              <a:rPr sz="1800" dirty="0">
                <a:solidFill>
                  <a:srgbClr val="1F3863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1F3863"/>
                </a:solidFill>
                <a:latin typeface="Arial MT"/>
                <a:cs typeface="Arial MT"/>
              </a:rPr>
              <a:t>syntax</a:t>
            </a:r>
            <a:r>
              <a:rPr sz="1800" spc="1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C00000"/>
                </a:solidFill>
                <a:latin typeface="Arial MT"/>
                <a:cs typeface="Arial MT"/>
              </a:rPr>
              <a:t>transform:</a:t>
            </a:r>
            <a:r>
              <a:rPr sz="18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C00000"/>
                </a:solidFill>
                <a:latin typeface="Arial MT"/>
                <a:cs typeface="Arial MT"/>
              </a:rPr>
              <a:t>skew(30deg,</a:t>
            </a:r>
            <a:r>
              <a:rPr sz="1800" spc="4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Arial MT"/>
                <a:cs typeface="Arial MT"/>
              </a:rPr>
              <a:t>20deg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);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65" dirty="0">
                <a:solidFill>
                  <a:srgbClr val="006FC0"/>
                </a:solidFill>
                <a:latin typeface="Arial MT"/>
                <a:cs typeface="Arial MT"/>
              </a:rPr>
              <a:t>Example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2400">
              <a:latin typeface="Arial MT"/>
              <a:cs typeface="Arial MT"/>
            </a:endParaRPr>
          </a:p>
          <a:p>
            <a:pPr marR="493395" algn="ctr">
              <a:lnSpc>
                <a:spcPct val="100000"/>
              </a:lnSpc>
              <a:spcBef>
                <a:spcPts val="5"/>
              </a:spcBef>
            </a:pPr>
            <a:r>
              <a:rPr sz="1800" spc="95" dirty="0">
                <a:solidFill>
                  <a:srgbClr val="870145"/>
                </a:solidFill>
                <a:latin typeface="Arial MT"/>
                <a:cs typeface="Arial MT"/>
              </a:rPr>
              <a:t>transform:</a:t>
            </a:r>
            <a:r>
              <a:rPr sz="1800" spc="-45" dirty="0">
                <a:solidFill>
                  <a:srgbClr val="870145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870145"/>
                </a:solidFill>
                <a:latin typeface="Arial MT"/>
                <a:cs typeface="Arial MT"/>
              </a:rPr>
              <a:t>skew(30deg,20deg);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804545">
              <a:lnSpc>
                <a:spcPct val="100000"/>
              </a:lnSpc>
              <a:spcBef>
                <a:spcPts val="95"/>
              </a:spcBef>
            </a:pPr>
            <a:r>
              <a:rPr sz="4000" spc="175" dirty="0"/>
              <a:t>Transform</a:t>
            </a:r>
            <a:r>
              <a:rPr sz="4000" spc="-120" dirty="0"/>
              <a:t> </a:t>
            </a:r>
            <a:r>
              <a:rPr sz="4000" spc="150" dirty="0"/>
              <a:t>Matrix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22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75000"/>
              <a:buChar char="•"/>
              <a:tabLst>
                <a:tab pos="356870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spc="75" dirty="0"/>
              <a:t>matrix()</a:t>
            </a:r>
            <a:r>
              <a:rPr spc="-25" dirty="0"/>
              <a:t> </a:t>
            </a:r>
            <a:r>
              <a:rPr spc="90" dirty="0"/>
              <a:t>method</a:t>
            </a:r>
            <a:r>
              <a:rPr spc="-35" dirty="0"/>
              <a:t> </a:t>
            </a:r>
            <a:r>
              <a:rPr spc="95" dirty="0"/>
              <a:t>combines</a:t>
            </a:r>
            <a:r>
              <a:rPr spc="-30" dirty="0"/>
              <a:t> </a:t>
            </a:r>
            <a:r>
              <a:rPr spc="75" dirty="0"/>
              <a:t>all</a:t>
            </a:r>
            <a:r>
              <a:rPr spc="-15" dirty="0"/>
              <a:t> </a:t>
            </a:r>
            <a:r>
              <a:rPr spc="90" dirty="0"/>
              <a:t>of</a:t>
            </a:r>
            <a:r>
              <a:rPr spc="175" dirty="0"/>
              <a:t> </a:t>
            </a:r>
            <a:r>
              <a:rPr spc="85" dirty="0"/>
              <a:t>the</a:t>
            </a:r>
            <a:r>
              <a:rPr spc="-15" dirty="0"/>
              <a:t> </a:t>
            </a:r>
            <a:r>
              <a:rPr dirty="0"/>
              <a:t>2D</a:t>
            </a:r>
            <a:r>
              <a:rPr spc="-10" dirty="0"/>
              <a:t> </a:t>
            </a:r>
            <a:r>
              <a:rPr spc="100" dirty="0"/>
              <a:t>transform</a:t>
            </a:r>
            <a:r>
              <a:rPr spc="-35" dirty="0"/>
              <a:t> </a:t>
            </a:r>
            <a:r>
              <a:rPr spc="90" dirty="0"/>
              <a:t>methods</a:t>
            </a:r>
            <a:r>
              <a:rPr spc="-30" dirty="0"/>
              <a:t> </a:t>
            </a:r>
            <a:r>
              <a:rPr spc="95" dirty="0"/>
              <a:t>into</a:t>
            </a:r>
            <a:r>
              <a:rPr spc="-25" dirty="0"/>
              <a:t> </a:t>
            </a:r>
            <a:r>
              <a:rPr spc="30" dirty="0"/>
              <a:t>one.</a:t>
            </a:r>
          </a:p>
          <a:p>
            <a:pPr marL="127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</a:pPr>
            <a:endParaRPr spc="30" dirty="0"/>
          </a:p>
          <a:p>
            <a:pPr marL="1270">
              <a:lnSpc>
                <a:spcPct val="100000"/>
              </a:lnSpc>
              <a:spcBef>
                <a:spcPts val="170"/>
              </a:spcBef>
              <a:buClr>
                <a:srgbClr val="006FC0"/>
              </a:buClr>
              <a:buFont typeface="Arial MT"/>
              <a:buChar char="•"/>
            </a:pPr>
            <a:endParaRPr spc="30" dirty="0"/>
          </a:p>
          <a:p>
            <a:pPr marL="426720" marR="5080" lvl="1" indent="-342900">
              <a:lnSpc>
                <a:spcPct val="100000"/>
              </a:lnSpc>
              <a:buClr>
                <a:srgbClr val="006FC0"/>
              </a:buClr>
              <a:buSzPct val="75000"/>
              <a:buChar char="•"/>
              <a:tabLst>
                <a:tab pos="427355" algn="l"/>
              </a:tabLst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matrix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method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takes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six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parameters,</a:t>
            </a:r>
            <a:r>
              <a:rPr sz="18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containing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mathematic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functions,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which allow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to: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rotate,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scale,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move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(translate),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skew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elements.</a:t>
            </a:r>
            <a:endParaRPr sz="1800">
              <a:latin typeface="Arial MT"/>
              <a:cs typeface="Arial MT"/>
            </a:endParaRPr>
          </a:p>
          <a:p>
            <a:pPr marL="1270">
              <a:lnSpc>
                <a:spcPct val="100000"/>
              </a:lnSpc>
              <a:spcBef>
                <a:spcPts val="1760"/>
              </a:spcBef>
            </a:pPr>
            <a:endParaRPr sz="1800">
              <a:latin typeface="Arial MT"/>
              <a:cs typeface="Arial MT"/>
            </a:endParaRPr>
          </a:p>
          <a:p>
            <a:pPr marL="405130">
              <a:lnSpc>
                <a:spcPct val="100000"/>
              </a:lnSpc>
            </a:pPr>
            <a:r>
              <a:rPr dirty="0">
                <a:solidFill>
                  <a:srgbClr val="1F3863"/>
                </a:solidFill>
              </a:rPr>
              <a:t>The</a:t>
            </a:r>
            <a:r>
              <a:rPr spc="-25" dirty="0">
                <a:solidFill>
                  <a:srgbClr val="1F3863"/>
                </a:solidFill>
              </a:rPr>
              <a:t> </a:t>
            </a:r>
            <a:r>
              <a:rPr spc="70" dirty="0">
                <a:solidFill>
                  <a:srgbClr val="1F3863"/>
                </a:solidFill>
              </a:rPr>
              <a:t>syntax</a:t>
            </a:r>
            <a:r>
              <a:rPr spc="5" dirty="0">
                <a:solidFill>
                  <a:srgbClr val="1F3863"/>
                </a:solidFill>
              </a:rPr>
              <a:t> </a:t>
            </a:r>
            <a:r>
              <a:rPr spc="95" dirty="0">
                <a:solidFill>
                  <a:srgbClr val="C00000"/>
                </a:solidFill>
              </a:rPr>
              <a:t>transform:</a:t>
            </a:r>
            <a:r>
              <a:rPr spc="-35" dirty="0">
                <a:solidFill>
                  <a:srgbClr val="C00000"/>
                </a:solidFill>
              </a:rPr>
              <a:t> </a:t>
            </a:r>
            <a:r>
              <a:rPr spc="75" dirty="0">
                <a:solidFill>
                  <a:srgbClr val="C00000"/>
                </a:solidFill>
              </a:rPr>
              <a:t>matrix(a,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b,</a:t>
            </a:r>
            <a:r>
              <a:rPr spc="-25" dirty="0">
                <a:solidFill>
                  <a:srgbClr val="C00000"/>
                </a:solidFill>
              </a:rPr>
              <a:t> </a:t>
            </a:r>
            <a:r>
              <a:rPr spc="75" dirty="0">
                <a:solidFill>
                  <a:srgbClr val="C00000"/>
                </a:solidFill>
              </a:rPr>
              <a:t>c,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spc="90" dirty="0">
                <a:solidFill>
                  <a:srgbClr val="C00000"/>
                </a:solidFill>
              </a:rPr>
              <a:t>d,</a:t>
            </a:r>
            <a:r>
              <a:rPr spc="-2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e,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spc="65" dirty="0">
                <a:solidFill>
                  <a:srgbClr val="C00000"/>
                </a:solidFill>
              </a:rPr>
              <a:t>f).</a:t>
            </a:r>
          </a:p>
          <a:p>
            <a:pPr marL="1270">
              <a:lnSpc>
                <a:spcPct val="100000"/>
              </a:lnSpc>
              <a:spcBef>
                <a:spcPts val="1920"/>
              </a:spcBef>
            </a:pPr>
            <a:endParaRPr spc="65" dirty="0">
              <a:solidFill>
                <a:srgbClr val="C00000"/>
              </a:solidFill>
            </a:endParaRPr>
          </a:p>
          <a:p>
            <a:pPr marL="170180">
              <a:lnSpc>
                <a:spcPct val="100000"/>
              </a:lnSpc>
            </a:pPr>
            <a:r>
              <a:rPr sz="2400" spc="65" dirty="0">
                <a:solidFill>
                  <a:srgbClr val="006FC0"/>
                </a:solidFill>
              </a:rPr>
              <a:t>Example</a:t>
            </a:r>
            <a:endParaRPr sz="2400"/>
          </a:p>
          <a:p>
            <a:pPr marL="1270">
              <a:lnSpc>
                <a:spcPct val="100000"/>
              </a:lnSpc>
              <a:spcBef>
                <a:spcPts val="280"/>
              </a:spcBef>
            </a:pPr>
            <a:endParaRPr sz="2400"/>
          </a:p>
          <a:p>
            <a:pPr marL="170180">
              <a:lnSpc>
                <a:spcPct val="100000"/>
              </a:lnSpc>
            </a:pPr>
            <a:r>
              <a:rPr spc="95" dirty="0">
                <a:solidFill>
                  <a:srgbClr val="870145"/>
                </a:solidFill>
              </a:rPr>
              <a:t>transform:</a:t>
            </a:r>
            <a:r>
              <a:rPr spc="30" dirty="0">
                <a:solidFill>
                  <a:srgbClr val="870145"/>
                </a:solidFill>
              </a:rPr>
              <a:t> </a:t>
            </a:r>
            <a:r>
              <a:rPr spc="60" dirty="0">
                <a:solidFill>
                  <a:srgbClr val="870145"/>
                </a:solidFill>
              </a:rPr>
              <a:t>matrix(0.866,0.5,-</a:t>
            </a:r>
            <a:r>
              <a:rPr spc="50" dirty="0">
                <a:solidFill>
                  <a:srgbClr val="870145"/>
                </a:solidFill>
              </a:rPr>
              <a:t>0.5,0.866,0,0);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6090684"/>
            <a:ext cx="406908" cy="3969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059" rIns="0" bIns="0" rtlCol="0">
            <a:spAutoFit/>
          </a:bodyPr>
          <a:lstStyle/>
          <a:p>
            <a:pPr marL="78867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CSS</a:t>
            </a:r>
            <a:r>
              <a:rPr sz="4400" spc="-125" dirty="0"/>
              <a:t> </a:t>
            </a:r>
            <a:r>
              <a:rPr sz="4400" spc="110" dirty="0"/>
              <a:t>3D</a:t>
            </a:r>
            <a:r>
              <a:rPr sz="4400" spc="-125" dirty="0"/>
              <a:t> </a:t>
            </a:r>
            <a:r>
              <a:rPr sz="4400" spc="185" dirty="0"/>
              <a:t>Transforms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2260" y="1895336"/>
            <a:ext cx="3184611" cy="34420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283" y="5659392"/>
            <a:ext cx="405384" cy="3969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33109" y="2204466"/>
            <a:ext cx="2851150" cy="2347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1F5F"/>
                </a:solidFill>
                <a:latin typeface="Arial MT"/>
                <a:cs typeface="Arial MT"/>
              </a:rPr>
              <a:t>3D</a:t>
            </a:r>
            <a:r>
              <a:rPr sz="20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000" spc="120" dirty="0">
                <a:solidFill>
                  <a:srgbClr val="001F5F"/>
                </a:solidFill>
                <a:latin typeface="Arial MT"/>
                <a:cs typeface="Arial MT"/>
              </a:rPr>
              <a:t>transform</a:t>
            </a:r>
            <a:r>
              <a:rPr sz="20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000" spc="90" dirty="0">
                <a:solidFill>
                  <a:srgbClr val="001F5F"/>
                </a:solidFill>
                <a:latin typeface="Arial MT"/>
                <a:cs typeface="Arial MT"/>
              </a:rPr>
              <a:t>methods:</a:t>
            </a:r>
            <a:endParaRPr sz="2000">
              <a:latin typeface="Arial MT"/>
              <a:cs typeface="Arial MT"/>
            </a:endParaRPr>
          </a:p>
          <a:p>
            <a:pPr marL="469900" marR="1407160" algn="just">
              <a:lnSpc>
                <a:spcPct val="225300"/>
              </a:lnSpc>
              <a:spcBef>
                <a:spcPts val="1280"/>
              </a:spcBef>
            </a:pPr>
            <a:r>
              <a:rPr sz="1800" spc="40" dirty="0">
                <a:solidFill>
                  <a:srgbClr val="006FC0"/>
                </a:solidFill>
                <a:latin typeface="Arial MT"/>
                <a:cs typeface="Arial MT"/>
              </a:rPr>
              <a:t>rotateX() </a:t>
            </a:r>
            <a:r>
              <a:rPr sz="1800" spc="45" dirty="0">
                <a:solidFill>
                  <a:srgbClr val="006FC0"/>
                </a:solidFill>
                <a:latin typeface="Arial MT"/>
                <a:cs typeface="Arial MT"/>
              </a:rPr>
              <a:t>rotateY() </a:t>
            </a:r>
            <a:r>
              <a:rPr sz="1800" spc="60" dirty="0">
                <a:solidFill>
                  <a:srgbClr val="4471C4"/>
                </a:solidFill>
                <a:latin typeface="Arial MT"/>
                <a:cs typeface="Arial MT"/>
              </a:rPr>
              <a:t>rotateZ()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1048" rIns="0" bIns="0" rtlCol="0">
            <a:spAutoFit/>
          </a:bodyPr>
          <a:lstStyle/>
          <a:p>
            <a:pPr marL="696595">
              <a:lnSpc>
                <a:spcPct val="100000"/>
              </a:lnSpc>
              <a:spcBef>
                <a:spcPts val="95"/>
              </a:spcBef>
            </a:pPr>
            <a:r>
              <a:rPr sz="4000" spc="95" dirty="0"/>
              <a:t>3D</a:t>
            </a:r>
            <a:r>
              <a:rPr sz="4000" spc="-110" dirty="0"/>
              <a:t> </a:t>
            </a:r>
            <a:r>
              <a:rPr sz="4000" spc="175" dirty="0"/>
              <a:t>Transform</a:t>
            </a:r>
            <a:r>
              <a:rPr sz="4000" spc="-100" dirty="0"/>
              <a:t> </a:t>
            </a:r>
            <a:r>
              <a:rPr sz="4000" spc="135" dirty="0"/>
              <a:t>Rotate</a:t>
            </a:r>
            <a:r>
              <a:rPr sz="4000" spc="-130" dirty="0"/>
              <a:t> </a:t>
            </a:r>
            <a:r>
              <a:rPr sz="4000" spc="-320" dirty="0"/>
              <a:t>X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9690" y="3254281"/>
            <a:ext cx="2521711" cy="18332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0352" y="2117216"/>
            <a:ext cx="5461000" cy="298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marR="5080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75000"/>
              <a:buChar char="•"/>
              <a:tabLst>
                <a:tab pos="357505" algn="l"/>
              </a:tabLst>
            </a:pP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/>
                <a:cs typeface="Arial"/>
              </a:rPr>
              <a:t>rotateX()</a:t>
            </a:r>
            <a:r>
              <a:rPr sz="18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method,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rotates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around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its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65" dirty="0">
                <a:solidFill>
                  <a:srgbClr val="001F5F"/>
                </a:solidFill>
                <a:latin typeface="Arial MT"/>
                <a:cs typeface="Arial MT"/>
              </a:rPr>
              <a:t>X-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axis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given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degree.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F3863"/>
                </a:solidFill>
                <a:latin typeface="Arial MT"/>
                <a:cs typeface="Arial MT"/>
              </a:rPr>
              <a:t>The</a:t>
            </a:r>
            <a:r>
              <a:rPr sz="1800" spc="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1F3863"/>
                </a:solidFill>
                <a:latin typeface="Arial MT"/>
                <a:cs typeface="Arial MT"/>
              </a:rPr>
              <a:t>syntax</a:t>
            </a:r>
            <a:r>
              <a:rPr sz="1800" spc="2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C00000"/>
                </a:solidFill>
                <a:latin typeface="Arial MT"/>
                <a:cs typeface="Arial MT"/>
              </a:rPr>
              <a:t>transform:</a:t>
            </a:r>
            <a:r>
              <a:rPr sz="18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C00000"/>
                </a:solidFill>
                <a:latin typeface="Arial MT"/>
                <a:cs typeface="Arial MT"/>
              </a:rPr>
              <a:t>rotateX(angle);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8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</a:pPr>
            <a:r>
              <a:rPr sz="2400" b="1" spc="-10" dirty="0">
                <a:solidFill>
                  <a:srgbClr val="006FC0"/>
                </a:solidFill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  <a:p>
            <a:pPr marL="357505">
              <a:lnSpc>
                <a:spcPct val="100000"/>
              </a:lnSpc>
              <a:spcBef>
                <a:spcPts val="2605"/>
              </a:spcBef>
            </a:pPr>
            <a:r>
              <a:rPr sz="1800" spc="95" dirty="0">
                <a:solidFill>
                  <a:srgbClr val="C00000"/>
                </a:solidFill>
                <a:latin typeface="Arial MT"/>
                <a:cs typeface="Arial MT"/>
              </a:rPr>
              <a:t>transform:</a:t>
            </a:r>
            <a:r>
              <a:rPr sz="1800" spc="-4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45" dirty="0">
                <a:solidFill>
                  <a:srgbClr val="C00000"/>
                </a:solidFill>
                <a:latin typeface="Arial MT"/>
                <a:cs typeface="Arial MT"/>
              </a:rPr>
              <a:t>rotateX(120deg);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067" y="5802648"/>
            <a:ext cx="406907" cy="3969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824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95"/>
              </a:spcBef>
            </a:pPr>
            <a:r>
              <a:rPr sz="4000" spc="95" dirty="0"/>
              <a:t>3D</a:t>
            </a:r>
            <a:r>
              <a:rPr sz="4000" spc="-100" dirty="0"/>
              <a:t> </a:t>
            </a:r>
            <a:r>
              <a:rPr sz="4000" spc="175" dirty="0"/>
              <a:t>Transform</a:t>
            </a:r>
            <a:r>
              <a:rPr sz="4000" spc="-85" dirty="0"/>
              <a:t> </a:t>
            </a:r>
            <a:r>
              <a:rPr sz="4000" spc="135" dirty="0"/>
              <a:t>Rotate</a:t>
            </a:r>
            <a:r>
              <a:rPr sz="4000" spc="-114" dirty="0"/>
              <a:t> </a:t>
            </a:r>
            <a:r>
              <a:rPr sz="4000" spc="-50" dirty="0"/>
              <a:t>Y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9521" y="2766060"/>
            <a:ext cx="3142064" cy="23195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503" y="5831604"/>
            <a:ext cx="406908" cy="3969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63244" y="2006346"/>
            <a:ext cx="5463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75000"/>
              <a:buChar char="•"/>
              <a:tabLst>
                <a:tab pos="355600" algn="l"/>
              </a:tabLst>
            </a:pP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rotateY()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method,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rotates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around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its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001F5F"/>
                </a:solidFill>
                <a:latin typeface="Arial MT"/>
                <a:cs typeface="Arial MT"/>
              </a:rPr>
              <a:t>Y-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axis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given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degree.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4497" y="3479038"/>
            <a:ext cx="3099435" cy="996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solidFill>
                  <a:srgbClr val="006FC0"/>
                </a:solidFill>
                <a:latin typeface="Arial MT"/>
                <a:cs typeface="Arial MT"/>
              </a:rPr>
              <a:t>Example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1800" spc="95" dirty="0">
                <a:solidFill>
                  <a:srgbClr val="870145"/>
                </a:solidFill>
                <a:latin typeface="Arial MT"/>
                <a:cs typeface="Arial MT"/>
              </a:rPr>
              <a:t>transform:</a:t>
            </a:r>
            <a:r>
              <a:rPr sz="1800" spc="-45" dirty="0">
                <a:solidFill>
                  <a:srgbClr val="870145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870145"/>
                </a:solidFill>
                <a:latin typeface="Arial MT"/>
                <a:cs typeface="Arial MT"/>
              </a:rPr>
              <a:t>rotateY(130deg);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813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95"/>
              </a:spcBef>
            </a:pPr>
            <a:r>
              <a:rPr sz="4000" spc="95" dirty="0"/>
              <a:t>3D</a:t>
            </a:r>
            <a:r>
              <a:rPr sz="4000" spc="-110" dirty="0"/>
              <a:t> </a:t>
            </a:r>
            <a:r>
              <a:rPr sz="4000" spc="175" dirty="0"/>
              <a:t>Transform</a:t>
            </a:r>
            <a:r>
              <a:rPr sz="4000" spc="-100" dirty="0"/>
              <a:t> </a:t>
            </a:r>
            <a:r>
              <a:rPr sz="4000" spc="135" dirty="0"/>
              <a:t>Rotate</a:t>
            </a:r>
            <a:r>
              <a:rPr sz="4000" spc="-130" dirty="0"/>
              <a:t> </a:t>
            </a:r>
            <a:r>
              <a:rPr sz="4000" spc="70" dirty="0"/>
              <a:t>Z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132" y="2609088"/>
            <a:ext cx="1688277" cy="20723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9748" y="2376881"/>
            <a:ext cx="546862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75000"/>
              <a:buChar char="•"/>
              <a:tabLst>
                <a:tab pos="354965" algn="l"/>
              </a:tabLst>
            </a:pP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rotateZ()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method,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element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rotates</a:t>
            </a:r>
            <a:endParaRPr sz="18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around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its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Z-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axis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given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degree.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6641" y="3809822"/>
            <a:ext cx="310388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solidFill>
                  <a:srgbClr val="006FC0"/>
                </a:solidFill>
                <a:latin typeface="Arial MT"/>
                <a:cs typeface="Arial MT"/>
              </a:rPr>
              <a:t>Example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5"/>
              </a:spcBef>
            </a:pPr>
            <a:r>
              <a:rPr sz="1800" spc="95" dirty="0">
                <a:solidFill>
                  <a:srgbClr val="870145"/>
                </a:solidFill>
                <a:latin typeface="Arial MT"/>
                <a:cs typeface="Arial MT"/>
              </a:rPr>
              <a:t>transform:</a:t>
            </a:r>
            <a:r>
              <a:rPr sz="1800" spc="-45" dirty="0">
                <a:solidFill>
                  <a:srgbClr val="870145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870145"/>
                </a:solidFill>
                <a:latin typeface="Arial MT"/>
                <a:cs typeface="Arial MT"/>
              </a:rPr>
              <a:t>rotateZ(130deg);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39" y="5650248"/>
            <a:ext cx="406908" cy="396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0555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95"/>
              </a:spcBef>
            </a:pPr>
            <a:r>
              <a:rPr sz="4000" b="1" u="sng" dirty="0"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Transitions</a:t>
            </a:r>
            <a:r>
              <a:rPr sz="4000" b="1" u="sng" spc="-145" dirty="0"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sz="4000" b="1" u="sng" dirty="0"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in</a:t>
            </a:r>
            <a:r>
              <a:rPr sz="4000" b="1" u="sng" spc="-130" dirty="0"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sz="40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CSS-</a:t>
            </a:r>
            <a:r>
              <a:rPr sz="4000" b="1" u="sng" spc="8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0194" y="2780251"/>
            <a:ext cx="2121235" cy="28914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718310"/>
            <a:ext cx="9701530" cy="3796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CSS3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transitions</a:t>
            </a:r>
            <a:r>
              <a:rPr sz="18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allow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6FC0"/>
                </a:solidFill>
                <a:latin typeface="Arial MT"/>
                <a:cs typeface="Arial MT"/>
              </a:rPr>
              <a:t>you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6FC0"/>
                </a:solidFill>
                <a:latin typeface="Arial MT"/>
                <a:cs typeface="Arial MT"/>
              </a:rPr>
              <a:t>add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smooth</a:t>
            </a:r>
            <a:r>
              <a:rPr sz="1800" spc="-5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gradual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6FC0"/>
                </a:solidFill>
                <a:latin typeface="Arial MT"/>
                <a:cs typeface="Arial MT"/>
              </a:rPr>
              <a:t>changes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to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CSS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properties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sz="1800" spc="18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6FC0"/>
                </a:solidFill>
                <a:latin typeface="Arial MT"/>
                <a:cs typeface="Arial MT"/>
              </a:rPr>
              <a:t>an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6FC0"/>
                </a:solidFill>
                <a:latin typeface="Arial MT"/>
                <a:cs typeface="Arial MT"/>
              </a:rPr>
              <a:t>element,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6FC0"/>
                </a:solidFill>
                <a:latin typeface="Arial MT"/>
                <a:cs typeface="Arial MT"/>
              </a:rPr>
              <a:t>such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6FC0"/>
                </a:solidFill>
                <a:latin typeface="Arial MT"/>
                <a:cs typeface="Arial MT"/>
              </a:rPr>
              <a:t>as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its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colour,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size,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35" dirty="0">
                <a:solidFill>
                  <a:srgbClr val="006FC0"/>
                </a:solidFill>
                <a:latin typeface="Arial MT"/>
                <a:cs typeface="Arial MT"/>
              </a:rPr>
              <a:t>or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position.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Clr>
                <a:srgbClr val="006FC0"/>
              </a:buClr>
              <a:buFont typeface="Wingdings"/>
              <a:buChar char="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spc="80" dirty="0">
                <a:solidFill>
                  <a:srgbClr val="006FC0"/>
                </a:solidFill>
                <a:latin typeface="Arial MT"/>
                <a:cs typeface="Arial MT"/>
              </a:rPr>
              <a:t>Here</a:t>
            </a:r>
            <a:r>
              <a:rPr sz="1800" spc="-5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also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learn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about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following</a:t>
            </a:r>
            <a:r>
              <a:rPr sz="18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properties: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Clr>
                <a:srgbClr val="006FC0"/>
              </a:buClr>
              <a:buFont typeface="Wingdings"/>
              <a:buChar char=""/>
            </a:pPr>
            <a:endParaRPr sz="1800">
              <a:latin typeface="Arial MT"/>
              <a:cs typeface="Arial MT"/>
            </a:endParaRPr>
          </a:p>
          <a:p>
            <a:pPr marL="542925" lvl="1" indent="-286385">
              <a:lnSpc>
                <a:spcPct val="100000"/>
              </a:lnSpc>
              <a:buFont typeface="Wingdings"/>
              <a:buChar char=""/>
              <a:tabLst>
                <a:tab pos="542925" algn="l"/>
              </a:tabLst>
            </a:pP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transition-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delay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Clr>
                <a:srgbClr val="001F5F"/>
              </a:buClr>
              <a:buFont typeface="Wingdings"/>
              <a:buChar char=""/>
            </a:pPr>
            <a:endParaRPr sz="1800">
              <a:latin typeface="Arial MT"/>
              <a:cs typeface="Arial MT"/>
            </a:endParaRPr>
          </a:p>
          <a:p>
            <a:pPr marL="542925" lvl="1" indent="-286385">
              <a:lnSpc>
                <a:spcPct val="100000"/>
              </a:lnSpc>
              <a:buFont typeface="Wingdings"/>
              <a:buChar char=""/>
              <a:tabLst>
                <a:tab pos="542925" algn="l"/>
              </a:tabLst>
            </a:pP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transition-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duration</a:t>
            </a:r>
            <a:endParaRPr sz="1800">
              <a:latin typeface="Arial MT"/>
              <a:cs typeface="Arial MT"/>
            </a:endParaRPr>
          </a:p>
          <a:p>
            <a:pPr marL="542925" lvl="1" indent="-286385">
              <a:lnSpc>
                <a:spcPct val="100000"/>
              </a:lnSpc>
              <a:spcBef>
                <a:spcPts val="1910"/>
              </a:spcBef>
              <a:buFont typeface="Wingdings"/>
              <a:buChar char=""/>
              <a:tabLst>
                <a:tab pos="542925" algn="l"/>
              </a:tabLst>
            </a:pP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transition-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property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Clr>
                <a:srgbClr val="001F5F"/>
              </a:buClr>
              <a:buFont typeface="Wingdings"/>
              <a:buChar char=""/>
            </a:pPr>
            <a:endParaRPr sz="1800">
              <a:latin typeface="Arial MT"/>
              <a:cs typeface="Arial MT"/>
            </a:endParaRPr>
          </a:p>
          <a:p>
            <a:pPr marL="542925" lvl="1" indent="-286385">
              <a:lnSpc>
                <a:spcPct val="100000"/>
              </a:lnSpc>
              <a:buFont typeface="Wingdings"/>
              <a:buChar char=""/>
              <a:tabLst>
                <a:tab pos="542925" algn="l"/>
              </a:tabLst>
            </a:pP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transition-timing-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function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563" y="6096743"/>
            <a:ext cx="406907" cy="3954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0174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95"/>
              </a:spcBef>
            </a:pPr>
            <a:r>
              <a:rPr sz="4000" u="sng" spc="1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Transition-</a:t>
            </a:r>
            <a:r>
              <a:rPr sz="4000" u="sng" spc="9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Delay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880" y="5968764"/>
            <a:ext cx="406907" cy="3969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820036"/>
            <a:ext cx="9625965" cy="324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transition-</a:t>
            </a:r>
            <a:r>
              <a:rPr sz="1800" spc="70" dirty="0">
                <a:solidFill>
                  <a:srgbClr val="006FC0"/>
                </a:solidFill>
                <a:latin typeface="Arial MT"/>
                <a:cs typeface="Arial MT"/>
              </a:rPr>
              <a:t>delay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property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when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will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start.</a:t>
            </a:r>
            <a:endParaRPr sz="1800">
              <a:latin typeface="Arial MT"/>
              <a:cs typeface="Arial MT"/>
            </a:endParaRPr>
          </a:p>
          <a:p>
            <a:pPr marL="12700" marR="1659889">
              <a:lnSpc>
                <a:spcPts val="6609"/>
              </a:lnSpc>
              <a:spcBef>
                <a:spcPts val="325"/>
              </a:spcBef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4471C4"/>
                </a:solidFill>
                <a:latin typeface="Arial MT"/>
                <a:cs typeface="Arial MT"/>
              </a:rPr>
              <a:t>transition-</a:t>
            </a:r>
            <a:r>
              <a:rPr sz="1800" spc="70" dirty="0">
                <a:solidFill>
                  <a:srgbClr val="4471C4"/>
                </a:solidFill>
                <a:latin typeface="Arial MT"/>
                <a:cs typeface="Arial MT"/>
              </a:rPr>
              <a:t>delay</a:t>
            </a:r>
            <a:r>
              <a:rPr sz="1800" spc="-10" dirty="0">
                <a:solidFill>
                  <a:srgbClr val="4471C4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6FC0"/>
                </a:solidFill>
                <a:latin typeface="Arial MT"/>
                <a:cs typeface="Arial MT"/>
              </a:rPr>
              <a:t>value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6FC0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defined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6FC0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seconds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(s)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35" dirty="0">
                <a:solidFill>
                  <a:srgbClr val="006FC0"/>
                </a:solidFill>
                <a:latin typeface="Arial MT"/>
                <a:cs typeface="Arial MT"/>
              </a:rPr>
              <a:t>or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milliseconds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006FC0"/>
                </a:solidFill>
                <a:latin typeface="Arial MT"/>
                <a:cs typeface="Arial MT"/>
              </a:rPr>
              <a:t>(ms). </a:t>
            </a:r>
            <a:r>
              <a:rPr sz="1800" u="sng" spc="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 MT"/>
                <a:cs typeface="Arial MT"/>
                <a:hlinkClick r:id="rId3"/>
              </a:rPr>
              <a:t>Transition-Duration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70000"/>
              </a:lnSpc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transition-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duration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property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spc="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how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many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seconds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 (s)</a:t>
            </a:r>
            <a:r>
              <a:rPr sz="1800" spc="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35" dirty="0">
                <a:solidFill>
                  <a:srgbClr val="006FC0"/>
                </a:solidFill>
                <a:latin typeface="Arial MT"/>
                <a:cs typeface="Arial MT"/>
              </a:rPr>
              <a:t>or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milliseconds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(ms) </a:t>
            </a:r>
            <a:r>
              <a:rPr sz="1800" spc="10" dirty="0">
                <a:solidFill>
                  <a:srgbClr val="006FC0"/>
                </a:solidFill>
                <a:latin typeface="Arial MT"/>
                <a:cs typeface="Arial MT"/>
              </a:rPr>
              <a:t>a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takes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complete.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0174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95"/>
              </a:spcBef>
            </a:pPr>
            <a:r>
              <a:rPr sz="4000" u="sng" spc="1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Transition-</a:t>
            </a:r>
            <a:r>
              <a:rPr sz="4000" u="sng" spc="14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Timing-</a:t>
            </a:r>
            <a:r>
              <a:rPr sz="4000" u="sng" spc="1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Function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6284232"/>
            <a:ext cx="406907" cy="3969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719148"/>
            <a:ext cx="9792335" cy="439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transition-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timing</a:t>
            </a:r>
            <a:r>
              <a:rPr sz="18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function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property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speed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6FC0"/>
                </a:solidFill>
                <a:latin typeface="Arial MT"/>
                <a:cs typeface="Arial MT"/>
              </a:rPr>
              <a:t>curve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sz="1800" spc="17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effect.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The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transition-timing-</a:t>
            </a:r>
            <a:r>
              <a:rPr sz="1800" spc="100" dirty="0">
                <a:solidFill>
                  <a:srgbClr val="006FC0"/>
                </a:solidFill>
                <a:latin typeface="Arial MT"/>
                <a:cs typeface="Arial MT"/>
              </a:rPr>
              <a:t>function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property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can</a:t>
            </a:r>
            <a:r>
              <a:rPr sz="1800" spc="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have</a:t>
            </a:r>
            <a:r>
              <a:rPr sz="1800" spc="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following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6FC0"/>
                </a:solidFill>
                <a:latin typeface="Arial MT"/>
                <a:cs typeface="Arial MT"/>
              </a:rPr>
              <a:t>values: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800">
              <a:latin typeface="Arial MT"/>
              <a:cs typeface="Arial MT"/>
            </a:endParaRPr>
          </a:p>
          <a:p>
            <a:pPr marL="92710" indent="-88900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ease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-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5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with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slow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start,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then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fast,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then</a:t>
            </a:r>
            <a:r>
              <a:rPr sz="18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end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006FC0"/>
                </a:solidFill>
                <a:latin typeface="Arial MT"/>
                <a:cs typeface="Arial MT"/>
              </a:rPr>
              <a:t>slowly.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001F5F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92710" indent="-88900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linear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-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with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same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speed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from</a:t>
            </a:r>
            <a:r>
              <a:rPr sz="1800" spc="-5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start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to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6FC0"/>
                </a:solidFill>
                <a:latin typeface="Arial MT"/>
                <a:cs typeface="Arial MT"/>
              </a:rPr>
              <a:t>end.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001F5F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92710" indent="-88900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ease-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8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-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with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slow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start.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Clr>
                <a:srgbClr val="001F5F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92710" indent="-88900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ease-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out</a:t>
            </a:r>
            <a:r>
              <a:rPr sz="18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-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20" dirty="0">
                <a:solidFill>
                  <a:srgbClr val="006FC0"/>
                </a:solidFill>
                <a:latin typeface="Arial MT"/>
                <a:cs typeface="Arial MT"/>
              </a:rPr>
              <a:t>with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slow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end.</a:t>
            </a:r>
            <a:endParaRPr sz="1800">
              <a:latin typeface="Arial MT"/>
              <a:cs typeface="Arial MT"/>
            </a:endParaRPr>
          </a:p>
          <a:p>
            <a:pPr marL="92710" indent="-88900">
              <a:lnSpc>
                <a:spcPct val="100000"/>
              </a:lnSpc>
              <a:spcBef>
                <a:spcPts val="1895"/>
              </a:spcBef>
              <a:buSzPct val="94444"/>
              <a:buChar char="•"/>
              <a:tabLst>
                <a:tab pos="92710" algn="l"/>
              </a:tabLst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ease-</a:t>
            </a:r>
            <a:r>
              <a:rPr sz="1800" spc="50" dirty="0">
                <a:solidFill>
                  <a:srgbClr val="001F5F"/>
                </a:solidFill>
                <a:latin typeface="Arial MT"/>
                <a:cs typeface="Arial MT"/>
              </a:rPr>
              <a:t>in-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out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-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with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slow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start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6FC0"/>
                </a:solidFill>
                <a:latin typeface="Arial MT"/>
                <a:cs typeface="Arial MT"/>
              </a:rPr>
              <a:t>end.</a:t>
            </a:r>
            <a:endParaRPr sz="1800">
              <a:latin typeface="Arial MT"/>
              <a:cs typeface="Arial MT"/>
            </a:endParaRPr>
          </a:p>
          <a:p>
            <a:pPr marL="92710" indent="-88900">
              <a:lnSpc>
                <a:spcPct val="100000"/>
              </a:lnSpc>
              <a:spcBef>
                <a:spcPts val="1820"/>
              </a:spcBef>
              <a:buSzPct val="94444"/>
              <a:buChar char="•"/>
              <a:tabLst>
                <a:tab pos="92710" algn="l"/>
              </a:tabLst>
            </a:pP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cubic-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bezier(n,n,n,n)</a:t>
            </a:r>
            <a:r>
              <a:rPr sz="1800" spc="-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-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lets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6FC0"/>
                </a:solidFill>
                <a:latin typeface="Arial MT"/>
                <a:cs typeface="Arial MT"/>
              </a:rPr>
              <a:t>you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define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your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own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6FC0"/>
                </a:solidFill>
                <a:latin typeface="Arial MT"/>
                <a:cs typeface="Arial MT"/>
              </a:rPr>
              <a:t>values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6FC0"/>
                </a:solidFill>
                <a:latin typeface="Arial MT"/>
                <a:cs typeface="Arial MT"/>
              </a:rPr>
              <a:t>in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cubic-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bezier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function.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3222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95"/>
              </a:spcBef>
            </a:pPr>
            <a:r>
              <a:rPr sz="4000" u="sng" spc="1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Transition-</a:t>
            </a:r>
            <a:r>
              <a:rPr sz="4000" u="sng" spc="204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Property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617" y="3294391"/>
            <a:ext cx="4552896" cy="28450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932" y="5836176"/>
            <a:ext cx="406907" cy="3969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2101596"/>
            <a:ext cx="1033272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transition-</a:t>
            </a:r>
            <a:r>
              <a:rPr sz="1800" spc="114" dirty="0">
                <a:solidFill>
                  <a:srgbClr val="001F5F"/>
                </a:solidFill>
                <a:latin typeface="Arial MT"/>
                <a:cs typeface="Arial MT"/>
              </a:rPr>
              <a:t>property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specifies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name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sz="1800" spc="1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CSS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property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is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for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6FC0"/>
                </a:solidFill>
                <a:latin typeface="Arial MT"/>
                <a:cs typeface="Arial MT"/>
              </a:rPr>
              <a:t>(the </a:t>
            </a:r>
            <a:r>
              <a:rPr sz="1800" spc="90" dirty="0">
                <a:solidFill>
                  <a:srgbClr val="006FC0"/>
                </a:solidFill>
                <a:latin typeface="Arial MT"/>
                <a:cs typeface="Arial MT"/>
              </a:rPr>
              <a:t>transition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6FC0"/>
                </a:solidFill>
                <a:latin typeface="Arial MT"/>
                <a:cs typeface="Arial MT"/>
              </a:rPr>
              <a:t>effect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will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start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when</a:t>
            </a:r>
            <a:r>
              <a:rPr sz="18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6FC0"/>
                </a:solidFill>
                <a:latin typeface="Arial MT"/>
                <a:cs typeface="Arial MT"/>
              </a:rPr>
              <a:t>specified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CSS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6FC0"/>
                </a:solidFill>
                <a:latin typeface="Arial MT"/>
                <a:cs typeface="Arial MT"/>
              </a:rPr>
              <a:t>property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changes.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695827"/>
            <a:ext cx="288988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0" dirty="0">
                <a:solidFill>
                  <a:srgbClr val="4471C4"/>
                </a:solidFill>
                <a:latin typeface="Arial MT"/>
                <a:cs typeface="Arial MT"/>
              </a:rPr>
              <a:t>Example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85" dirty="0">
                <a:solidFill>
                  <a:srgbClr val="C00000"/>
                </a:solidFill>
                <a:latin typeface="Arial MT"/>
                <a:cs typeface="Arial MT"/>
              </a:rPr>
              <a:t>transition-</a:t>
            </a:r>
            <a:r>
              <a:rPr sz="1800" spc="110" dirty="0">
                <a:solidFill>
                  <a:srgbClr val="C00000"/>
                </a:solidFill>
                <a:latin typeface="Arial MT"/>
                <a:cs typeface="Arial MT"/>
              </a:rPr>
              <a:t>property:</a:t>
            </a:r>
            <a:r>
              <a:rPr sz="1800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C00000"/>
                </a:solidFill>
                <a:latin typeface="Arial MT"/>
                <a:cs typeface="Arial MT"/>
              </a:rPr>
              <a:t>color;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98526"/>
            <a:ext cx="2781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70" dirty="0"/>
              <a:t>Animations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1754" y="3639678"/>
            <a:ext cx="2121235" cy="21212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218438"/>
            <a:ext cx="8184515" cy="254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CSS3,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create</a:t>
            </a:r>
            <a:r>
              <a:rPr sz="18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animations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replace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animated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images,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40" dirty="0">
                <a:solidFill>
                  <a:srgbClr val="001F5F"/>
                </a:solidFill>
                <a:latin typeface="Arial MT"/>
                <a:cs typeface="Arial MT"/>
              </a:rPr>
              <a:t>Flash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animations,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JavaScript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many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web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40" dirty="0">
                <a:solidFill>
                  <a:srgbClr val="001F5F"/>
                </a:solidFill>
                <a:latin typeface="Arial MT"/>
                <a:cs typeface="Arial MT"/>
              </a:rPr>
              <a:t>pages.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6FC0"/>
                </a:solidFill>
                <a:latin typeface="Arial MT"/>
                <a:cs typeface="Arial MT"/>
              </a:rPr>
              <a:t>CSS3</a:t>
            </a:r>
            <a:r>
              <a:rPr sz="24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00" spc="75" dirty="0">
                <a:solidFill>
                  <a:srgbClr val="006FC0"/>
                </a:solidFill>
                <a:latin typeface="Arial MT"/>
                <a:cs typeface="Arial MT"/>
              </a:rPr>
              <a:t>@keyframes</a:t>
            </a:r>
            <a:r>
              <a:rPr sz="24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Arial MT"/>
                <a:cs typeface="Arial MT"/>
              </a:rPr>
              <a:t>Rule</a:t>
            </a:r>
            <a:endParaRPr sz="2400">
              <a:latin typeface="Arial MT"/>
              <a:cs typeface="Arial MT"/>
            </a:endParaRPr>
          </a:p>
          <a:p>
            <a:pPr marL="12700" marR="162560">
              <a:lnSpc>
                <a:spcPct val="100000"/>
              </a:lnSpc>
              <a:spcBef>
                <a:spcPts val="2255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@keyframes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rule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where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animation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created.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Specify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CSS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style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inside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@keyframes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rule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animation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gradually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change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1F5F"/>
                </a:solidFill>
                <a:latin typeface="Arial MT"/>
                <a:cs typeface="Arial MT"/>
              </a:rPr>
              <a:t>current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style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new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style.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508" y="6268992"/>
            <a:ext cx="405384" cy="396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6939" y="4471542"/>
            <a:ext cx="8037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Specify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when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change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happen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20" dirty="0">
                <a:solidFill>
                  <a:srgbClr val="001F5F"/>
                </a:solidFill>
                <a:latin typeface="Arial MT"/>
                <a:cs typeface="Arial MT"/>
              </a:rPr>
              <a:t>per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cent,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35" dirty="0">
                <a:solidFill>
                  <a:srgbClr val="001F5F"/>
                </a:solidFill>
                <a:latin typeface="Arial MT"/>
                <a:cs typeface="Arial MT"/>
              </a:rPr>
              <a:t>or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keywords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25" dirty="0">
                <a:solidFill>
                  <a:srgbClr val="001F5F"/>
                </a:solidFill>
                <a:latin typeface="Arial MT"/>
                <a:cs typeface="Arial MT"/>
              </a:rPr>
              <a:t>"from"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45" dirty="0">
                <a:solidFill>
                  <a:srgbClr val="001F5F"/>
                </a:solidFill>
                <a:latin typeface="Arial MT"/>
                <a:cs typeface="Arial MT"/>
              </a:rPr>
              <a:t>"to",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which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same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0%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100%.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0184" rIns="0" bIns="0" rtlCol="0">
            <a:spAutoFit/>
          </a:bodyPr>
          <a:lstStyle/>
          <a:p>
            <a:pPr marL="59563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solidFill>
                  <a:srgbClr val="001F5F"/>
                </a:solidFill>
                <a:latin typeface="Arial"/>
                <a:cs typeface="Arial"/>
              </a:rPr>
              <a:t>Example: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852" y="6169932"/>
            <a:ext cx="406907" cy="3969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17752" y="1778609"/>
            <a:ext cx="2901315" cy="29705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spc="-10" dirty="0">
                <a:latin typeface="Calibri"/>
                <a:cs typeface="Calibri"/>
              </a:rPr>
              <a:t>@keyframes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myfirst{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alibri"/>
                <a:cs typeface="Calibri"/>
              </a:rPr>
              <a:t>0%</a:t>
            </a:r>
            <a:r>
              <a:rPr sz="1400" spc="13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{background:</a:t>
            </a:r>
            <a:r>
              <a:rPr sz="1400" spc="-10" dirty="0">
                <a:latin typeface="Calibri"/>
                <a:cs typeface="Calibri"/>
              </a:rPr>
              <a:t> red;}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25%</a:t>
            </a:r>
            <a:r>
              <a:rPr sz="1400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{background: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yellow;}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50%</a:t>
            </a:r>
            <a:r>
              <a:rPr sz="1400" spc="2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{background: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blue;}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100%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{background: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green;}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40"/>
              </a:spcBef>
            </a:pPr>
            <a:r>
              <a:rPr sz="1400" spc="-50" dirty="0"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Calibri"/>
                <a:cs typeface="Calibri"/>
              </a:rPr>
              <a:t>@-</a:t>
            </a:r>
            <a:r>
              <a:rPr sz="1400" spc="-10" dirty="0">
                <a:latin typeface="Calibri"/>
                <a:cs typeface="Calibri"/>
              </a:rPr>
              <a:t>webkit-keyframes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myfirst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alibri"/>
                <a:cs typeface="Calibri"/>
              </a:rPr>
              <a:t>0%</a:t>
            </a:r>
            <a:r>
              <a:rPr sz="1400" spc="12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{background: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red;}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25%</a:t>
            </a:r>
            <a:r>
              <a:rPr sz="1400" spc="2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{background: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yellow;}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50%</a:t>
            </a:r>
            <a:r>
              <a:rPr sz="1400" spc="2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{background: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blue;}</a:t>
            </a:r>
            <a:endParaRPr sz="1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100%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{background: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green;}</a:t>
            </a:r>
            <a:endParaRPr sz="1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1400" spc="-50" dirty="0"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188" y="1086611"/>
            <a:ext cx="6160008" cy="48539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3372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95"/>
              </a:spcBef>
            </a:pPr>
            <a:r>
              <a:rPr sz="4000" spc="204" dirty="0"/>
              <a:t>Properties</a:t>
            </a:r>
            <a:r>
              <a:rPr sz="4000" spc="-90" dirty="0"/>
              <a:t> </a:t>
            </a:r>
            <a:r>
              <a:rPr sz="4000" spc="210" dirty="0"/>
              <a:t>included</a:t>
            </a:r>
            <a:r>
              <a:rPr sz="4000" spc="-60" dirty="0"/>
              <a:t> </a:t>
            </a:r>
            <a:r>
              <a:rPr sz="4000" spc="185" dirty="0"/>
              <a:t>in</a:t>
            </a:r>
            <a:r>
              <a:rPr sz="4000" spc="-100" dirty="0"/>
              <a:t> </a:t>
            </a:r>
            <a:r>
              <a:rPr sz="4000" spc="165" dirty="0"/>
              <a:t>animations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6960" y="3036174"/>
            <a:ext cx="2120044" cy="21212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2327" y="6273564"/>
            <a:ext cx="406907" cy="3969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291" y="6262896"/>
            <a:ext cx="406908" cy="396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84884" y="1735073"/>
            <a:ext cx="3285490" cy="421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indent="-131445">
              <a:lnSpc>
                <a:spcPct val="100000"/>
              </a:lnSpc>
              <a:spcBef>
                <a:spcPts val="100"/>
              </a:spcBef>
              <a:buSzPct val="94444"/>
              <a:buFont typeface="Consolas"/>
              <a:buChar char="•"/>
              <a:tabLst>
                <a:tab pos="137160" algn="l"/>
              </a:tabLst>
            </a:pPr>
            <a:r>
              <a:rPr sz="1800" b="1" spc="-10" dirty="0">
                <a:latin typeface="Consolas"/>
                <a:cs typeface="Consolas"/>
              </a:rPr>
              <a:t>animation-</a:t>
            </a:r>
            <a:r>
              <a:rPr sz="1800" b="1" spc="-20" dirty="0">
                <a:latin typeface="Consolas"/>
                <a:cs typeface="Consolas"/>
              </a:rPr>
              <a:t>name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Consolas"/>
              <a:buChar char="•"/>
            </a:pPr>
            <a:endParaRPr sz="1800">
              <a:latin typeface="Consolas"/>
              <a:cs typeface="Consolas"/>
            </a:endParaRPr>
          </a:p>
          <a:p>
            <a:pPr marL="137795" indent="-132080">
              <a:lnSpc>
                <a:spcPct val="100000"/>
              </a:lnSpc>
              <a:spcBef>
                <a:spcPts val="5"/>
              </a:spcBef>
              <a:buSzPct val="94444"/>
              <a:buFont typeface="Consolas"/>
              <a:buChar char="•"/>
              <a:tabLst>
                <a:tab pos="137795" algn="l"/>
              </a:tabLst>
            </a:pPr>
            <a:r>
              <a:rPr sz="1800" b="1" spc="-10" dirty="0">
                <a:latin typeface="Consolas"/>
                <a:cs typeface="Consolas"/>
              </a:rPr>
              <a:t>animation-duration</a:t>
            </a:r>
            <a:endParaRPr sz="1800">
              <a:latin typeface="Consolas"/>
              <a:cs typeface="Consolas"/>
            </a:endParaRPr>
          </a:p>
          <a:p>
            <a:pPr marL="137160" indent="-131445">
              <a:lnSpc>
                <a:spcPct val="100000"/>
              </a:lnSpc>
              <a:spcBef>
                <a:spcPts val="1740"/>
              </a:spcBef>
              <a:buSzPct val="94444"/>
              <a:buFont typeface="Consolas"/>
              <a:buChar char="•"/>
              <a:tabLst>
                <a:tab pos="137160" algn="l"/>
              </a:tabLst>
            </a:pPr>
            <a:r>
              <a:rPr sz="1800" b="1" spc="-10" dirty="0">
                <a:latin typeface="Consolas"/>
                <a:cs typeface="Consolas"/>
              </a:rPr>
              <a:t>animation-delay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Consolas"/>
              <a:buChar char="•"/>
            </a:pPr>
            <a:endParaRPr sz="1800">
              <a:latin typeface="Consolas"/>
              <a:cs typeface="Consolas"/>
            </a:endParaRPr>
          </a:p>
          <a:p>
            <a:pPr marL="137160" indent="-131445">
              <a:lnSpc>
                <a:spcPct val="100000"/>
              </a:lnSpc>
              <a:buSzPct val="94444"/>
              <a:buFont typeface="Consolas"/>
              <a:buChar char="•"/>
              <a:tabLst>
                <a:tab pos="137160" algn="l"/>
              </a:tabLst>
            </a:pPr>
            <a:r>
              <a:rPr sz="1800" b="1" spc="-10" dirty="0">
                <a:latin typeface="Consolas"/>
                <a:cs typeface="Consolas"/>
              </a:rPr>
              <a:t>animation-iteration-</a:t>
            </a:r>
            <a:r>
              <a:rPr sz="1800" b="1" spc="-20" dirty="0">
                <a:latin typeface="Consolas"/>
                <a:cs typeface="Consolas"/>
              </a:rPr>
              <a:t>count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Font typeface="Consolas"/>
              <a:buChar char="•"/>
            </a:pPr>
            <a:endParaRPr sz="1800">
              <a:latin typeface="Consolas"/>
              <a:cs typeface="Consolas"/>
            </a:endParaRPr>
          </a:p>
          <a:p>
            <a:pPr marL="139065" indent="-131445">
              <a:lnSpc>
                <a:spcPct val="100000"/>
              </a:lnSpc>
              <a:buSzPct val="94444"/>
              <a:buFont typeface="Consolas"/>
              <a:buChar char="•"/>
              <a:tabLst>
                <a:tab pos="139065" algn="l"/>
              </a:tabLst>
            </a:pPr>
            <a:r>
              <a:rPr sz="1800" b="1" spc="-10" dirty="0">
                <a:latin typeface="Consolas"/>
                <a:cs typeface="Consolas"/>
              </a:rPr>
              <a:t>animation-direction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Consolas"/>
              <a:buChar char="•"/>
            </a:pPr>
            <a:endParaRPr sz="1800">
              <a:latin typeface="Consolas"/>
              <a:cs typeface="Consolas"/>
            </a:endParaRPr>
          </a:p>
          <a:p>
            <a:pPr marL="137160" indent="-131445">
              <a:lnSpc>
                <a:spcPct val="100000"/>
              </a:lnSpc>
              <a:spcBef>
                <a:spcPts val="5"/>
              </a:spcBef>
              <a:buSzPct val="94444"/>
              <a:buFont typeface="Consolas"/>
              <a:buChar char="•"/>
              <a:tabLst>
                <a:tab pos="137160" algn="l"/>
              </a:tabLst>
            </a:pPr>
            <a:r>
              <a:rPr sz="1800" b="1" spc="-10" dirty="0">
                <a:latin typeface="Consolas"/>
                <a:cs typeface="Consolas"/>
              </a:rPr>
              <a:t>animation-timing-function</a:t>
            </a:r>
            <a:endParaRPr sz="1800">
              <a:latin typeface="Consolas"/>
              <a:cs typeface="Consolas"/>
            </a:endParaRPr>
          </a:p>
          <a:p>
            <a:pPr marL="137160" indent="-131445">
              <a:lnSpc>
                <a:spcPct val="100000"/>
              </a:lnSpc>
              <a:spcBef>
                <a:spcPts val="1964"/>
              </a:spcBef>
              <a:buSzPct val="94444"/>
              <a:buFont typeface="Consolas"/>
              <a:buChar char="•"/>
              <a:tabLst>
                <a:tab pos="137160" algn="l"/>
              </a:tabLst>
            </a:pPr>
            <a:r>
              <a:rPr sz="1800" b="1" spc="-10" dirty="0">
                <a:latin typeface="Consolas"/>
                <a:cs typeface="Consolas"/>
              </a:rPr>
              <a:t>animation-fill-</a:t>
            </a:r>
            <a:r>
              <a:rPr sz="1800" b="1" spc="-20" dirty="0">
                <a:latin typeface="Consolas"/>
                <a:cs typeface="Consolas"/>
              </a:rPr>
              <a:t>mode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Consolas"/>
              <a:buChar char="•"/>
            </a:pPr>
            <a:endParaRPr sz="1800">
              <a:latin typeface="Consolas"/>
              <a:cs typeface="Consolas"/>
            </a:endParaRPr>
          </a:p>
          <a:p>
            <a:pPr marL="137160" indent="-131445">
              <a:lnSpc>
                <a:spcPct val="100000"/>
              </a:lnSpc>
              <a:spcBef>
                <a:spcPts val="5"/>
              </a:spcBef>
              <a:buSzPct val="94444"/>
              <a:buFont typeface="Consolas"/>
              <a:buChar char="•"/>
              <a:tabLst>
                <a:tab pos="137160" algn="l"/>
              </a:tabLst>
            </a:pPr>
            <a:r>
              <a:rPr sz="1800" b="1" spc="-10" dirty="0">
                <a:latin typeface="Consolas"/>
                <a:cs typeface="Consolas"/>
              </a:rPr>
              <a:t>animation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0174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95"/>
              </a:spcBef>
            </a:pPr>
            <a:r>
              <a:rPr sz="4000" spc="145" dirty="0"/>
              <a:t>Media</a:t>
            </a:r>
            <a:r>
              <a:rPr sz="4000" spc="-85" dirty="0"/>
              <a:t> </a:t>
            </a:r>
            <a:r>
              <a:rPr sz="4000" spc="160" dirty="0"/>
              <a:t>Query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6158" y="3400410"/>
            <a:ext cx="2121235" cy="21212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719148"/>
            <a:ext cx="8575040" cy="345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Media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query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CSS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technique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introduced</a:t>
            </a:r>
            <a:r>
              <a:rPr sz="18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CSS3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64"/>
              </a:spcBef>
              <a:buClr>
                <a:srgbClr val="001F5F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marR="92456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uses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6FC0"/>
                </a:solidFill>
                <a:latin typeface="Arial MT"/>
                <a:cs typeface="Arial MT"/>
              </a:rPr>
              <a:t>@media</a:t>
            </a:r>
            <a:r>
              <a:rPr sz="18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rule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include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block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8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CSS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properties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only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if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1F5F"/>
                </a:solidFill>
                <a:latin typeface="Arial MT"/>
                <a:cs typeface="Arial MT"/>
              </a:rPr>
              <a:t>certain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condition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true.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5"/>
              </a:spcBef>
              <a:buClr>
                <a:srgbClr val="001F5F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Media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queries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allow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us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change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001F5F"/>
                </a:solidFill>
                <a:latin typeface="Arial MT"/>
                <a:cs typeface="Arial MT"/>
              </a:rPr>
              <a:t>our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layouts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suit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extract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001F5F"/>
                </a:solidFill>
                <a:latin typeface="Arial MT"/>
                <a:cs typeface="Arial MT"/>
              </a:rPr>
              <a:t>need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different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devices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0" dirty="0">
                <a:solidFill>
                  <a:srgbClr val="001F5F"/>
                </a:solidFill>
                <a:latin typeface="Arial MT"/>
                <a:cs typeface="Arial MT"/>
              </a:rPr>
              <a:t>–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01F5F"/>
                </a:solidFill>
                <a:latin typeface="Arial MT"/>
                <a:cs typeface="Arial MT"/>
              </a:rPr>
              <a:t>without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changing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content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endParaRPr sz="1800">
              <a:latin typeface="Arial MT"/>
              <a:cs typeface="Arial MT"/>
            </a:endParaRPr>
          </a:p>
          <a:p>
            <a:pPr marL="299085" marR="168402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CSS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001F5F"/>
                </a:solidFill>
                <a:latin typeface="Arial MT"/>
                <a:cs typeface="Arial MT"/>
              </a:rPr>
              <a:t>used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01F5F"/>
                </a:solidFill>
                <a:latin typeface="Arial MT"/>
                <a:cs typeface="Arial MT"/>
              </a:rPr>
              <a:t>specify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001F5F"/>
                </a:solidFill>
                <a:latin typeface="Arial MT"/>
                <a:cs typeface="Arial MT"/>
              </a:rPr>
              <a:t>how</a:t>
            </a:r>
            <a:r>
              <a:rPr sz="18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8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document</a:t>
            </a:r>
            <a:r>
              <a:rPr sz="18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001F5F"/>
                </a:solidFill>
                <a:latin typeface="Arial MT"/>
                <a:cs typeface="Arial MT"/>
              </a:rPr>
              <a:t>presented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001F5F"/>
                </a:solidFill>
                <a:latin typeface="Arial MT"/>
                <a:cs typeface="Arial MT"/>
              </a:rPr>
              <a:t>in </a:t>
            </a:r>
            <a:r>
              <a:rPr sz="1800" spc="100" dirty="0">
                <a:solidFill>
                  <a:srgbClr val="001F5F"/>
                </a:solidFill>
                <a:latin typeface="Arial MT"/>
                <a:cs typeface="Arial MT"/>
              </a:rPr>
              <a:t>different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1F5F"/>
                </a:solidFill>
                <a:latin typeface="Arial MT"/>
                <a:cs typeface="Arial MT"/>
              </a:rPr>
              <a:t>media.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508" y="5897136"/>
            <a:ext cx="405384" cy="3969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0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001F5F"/>
                </a:solidFill>
                <a:latin typeface="Arial"/>
                <a:cs typeface="Arial"/>
              </a:rPr>
              <a:t>Example: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2594" y="1541145"/>
            <a:ext cx="539115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&lt;!DOCTYPE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html&gt;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&lt;html&gt;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&lt;head&gt;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&lt;meta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name="viewport"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content="width=device-</a:t>
            </a:r>
            <a:r>
              <a:rPr sz="1400" dirty="0">
                <a:latin typeface="Calibri"/>
                <a:cs typeface="Calibri"/>
              </a:rPr>
              <a:t>width,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initial-scale=1.0"&gt;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&lt;style&gt;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body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background-</a:t>
            </a:r>
            <a:r>
              <a:rPr sz="1400" dirty="0">
                <a:latin typeface="Calibri"/>
                <a:cs typeface="Calibri"/>
              </a:rPr>
              <a:t>color: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lightgreen;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  <a:p>
            <a:pPr marL="91440" marR="2040889" indent="-79375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Calibri"/>
                <a:cs typeface="Calibri"/>
              </a:rPr>
              <a:t>@media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only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screen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(max-</a:t>
            </a:r>
            <a:r>
              <a:rPr sz="1400" dirty="0">
                <a:latin typeface="Calibri"/>
                <a:cs typeface="Calibri"/>
              </a:rPr>
              <a:t>width: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600px)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60" dirty="0">
                <a:latin typeface="Calibri"/>
                <a:cs typeface="Calibri"/>
              </a:rPr>
              <a:t>{ </a:t>
            </a:r>
            <a:r>
              <a:rPr sz="1400" dirty="0">
                <a:latin typeface="Calibri"/>
                <a:cs typeface="Calibri"/>
              </a:rPr>
              <a:t>body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17081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background-</a:t>
            </a:r>
            <a:r>
              <a:rPr sz="1400" dirty="0">
                <a:latin typeface="Calibri"/>
                <a:cs typeface="Calibri"/>
              </a:rPr>
              <a:t>color:</a:t>
            </a:r>
            <a:r>
              <a:rPr sz="1400" spc="-10" dirty="0">
                <a:latin typeface="Calibri"/>
                <a:cs typeface="Calibri"/>
              </a:rPr>
              <a:t> lightblue;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400" spc="-50" dirty="0"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&lt;/style&gt;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&lt;/head&gt;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&lt;body&gt;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400" spc="-10" dirty="0">
                <a:latin typeface="Calibri"/>
                <a:cs typeface="Calibri"/>
              </a:rPr>
              <a:t>&lt;/body&gt;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&lt;/html&gt;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95" y="1197863"/>
            <a:ext cx="6160008" cy="48539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847" y="6358908"/>
            <a:ext cx="406908" cy="3969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3222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95"/>
              </a:spcBef>
            </a:pPr>
            <a:r>
              <a:rPr sz="4000" spc="145" dirty="0"/>
              <a:t>Media</a:t>
            </a:r>
            <a:r>
              <a:rPr sz="4000" spc="-90" dirty="0"/>
              <a:t> </a:t>
            </a:r>
            <a:r>
              <a:rPr sz="4000" spc="220" dirty="0"/>
              <a:t>query</a:t>
            </a:r>
            <a:r>
              <a:rPr sz="4000" spc="-100" dirty="0"/>
              <a:t> </a:t>
            </a:r>
            <a:r>
              <a:rPr sz="4000" spc="160" dirty="0"/>
              <a:t>syntax:</a:t>
            </a:r>
            <a:r>
              <a:rPr sz="4000" spc="-100" dirty="0"/>
              <a:t> </a:t>
            </a:r>
            <a:r>
              <a:rPr sz="4000" spc="180" dirty="0"/>
              <a:t>external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6158" y="3566526"/>
            <a:ext cx="2121235" cy="21212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59" y="5798076"/>
            <a:ext cx="406908" cy="3969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2252853"/>
            <a:ext cx="5626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812800" algn="l"/>
                <a:tab pos="1612265" algn="l"/>
                <a:tab pos="2545715" algn="l"/>
                <a:tab pos="3077210" algn="l"/>
                <a:tab pos="3211830" algn="l"/>
              </a:tabLst>
            </a:pPr>
            <a:r>
              <a:rPr sz="1800" spc="250" dirty="0">
                <a:solidFill>
                  <a:srgbClr val="001F5F"/>
                </a:solidFill>
                <a:latin typeface="Trebuchet MS"/>
                <a:cs typeface="Trebuchet MS"/>
              </a:rPr>
              <a:t>&lt;link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200" dirty="0">
                <a:solidFill>
                  <a:srgbClr val="001F5F"/>
                </a:solidFill>
                <a:latin typeface="Trebuchet MS"/>
                <a:cs typeface="Trebuchet MS"/>
              </a:rPr>
              <a:t>href="narrow.css"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245" dirty="0">
                <a:solidFill>
                  <a:srgbClr val="001F5F"/>
                </a:solidFill>
                <a:latin typeface="Trebuchet MS"/>
                <a:cs typeface="Trebuchet MS"/>
              </a:rPr>
              <a:t>rel="stylesheet" </a:t>
            </a:r>
            <a:r>
              <a:rPr sz="1800" spc="135" dirty="0">
                <a:solidFill>
                  <a:srgbClr val="001F5F"/>
                </a:solidFill>
                <a:latin typeface="Trebuchet MS"/>
                <a:cs typeface="Trebuchet MS"/>
              </a:rPr>
              <a:t>media="only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150" dirty="0">
                <a:solidFill>
                  <a:srgbClr val="001F5F"/>
                </a:solidFill>
                <a:latin typeface="Trebuchet MS"/>
                <a:cs typeface="Trebuchet MS"/>
              </a:rPr>
              <a:t>screen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40" dirty="0">
                <a:solidFill>
                  <a:srgbClr val="001F5F"/>
                </a:solidFill>
                <a:latin typeface="Trebuchet MS"/>
                <a:cs typeface="Trebuchet MS"/>
              </a:rPr>
              <a:t>and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110" dirty="0">
                <a:solidFill>
                  <a:srgbClr val="001F5F"/>
                </a:solidFill>
                <a:latin typeface="Trebuchet MS"/>
                <a:cs typeface="Trebuchet MS"/>
              </a:rPr>
              <a:t>(max-</a:t>
            </a:r>
            <a:r>
              <a:rPr sz="1800" spc="165" dirty="0">
                <a:solidFill>
                  <a:srgbClr val="001F5F"/>
                </a:solidFill>
                <a:latin typeface="Trebuchet MS"/>
                <a:cs typeface="Trebuchet MS"/>
              </a:rPr>
              <a:t>width:500px)"&gt;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593972"/>
            <a:ext cx="5226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79500" algn="l"/>
                <a:tab pos="3213100" algn="l"/>
                <a:tab pos="3879215" algn="l"/>
                <a:tab pos="4811395" algn="l"/>
              </a:tabLst>
            </a:pPr>
            <a:r>
              <a:rPr sz="1800" spc="65" dirty="0">
                <a:solidFill>
                  <a:srgbClr val="001F5F"/>
                </a:solidFill>
                <a:latin typeface="Trebuchet MS"/>
                <a:cs typeface="Trebuchet MS"/>
              </a:rPr>
              <a:t>@import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220" dirty="0">
                <a:solidFill>
                  <a:srgbClr val="001F5F"/>
                </a:solidFill>
                <a:latin typeface="Trebuchet MS"/>
                <a:cs typeface="Trebuchet MS"/>
              </a:rPr>
              <a:t>url(narrow.css)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180" dirty="0">
                <a:solidFill>
                  <a:srgbClr val="001F5F"/>
                </a:solidFill>
                <a:latin typeface="Trebuchet MS"/>
                <a:cs typeface="Trebuchet MS"/>
              </a:rPr>
              <a:t>only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150" dirty="0">
                <a:solidFill>
                  <a:srgbClr val="001F5F"/>
                </a:solidFill>
                <a:latin typeface="Trebuchet MS"/>
                <a:cs typeface="Trebuchet MS"/>
              </a:rPr>
              <a:t>screen</a:t>
            </a:r>
            <a:r>
              <a:rPr sz="1800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1800" spc="45" dirty="0">
                <a:solidFill>
                  <a:srgbClr val="001F5F"/>
                </a:solidFill>
                <a:latin typeface="Trebuchet MS"/>
                <a:cs typeface="Trebuchet MS"/>
              </a:rPr>
              <a:t>and </a:t>
            </a:r>
            <a:r>
              <a:rPr sz="1800" spc="110" dirty="0">
                <a:solidFill>
                  <a:srgbClr val="001F5F"/>
                </a:solidFill>
                <a:latin typeface="Trebuchet MS"/>
                <a:cs typeface="Trebuchet MS"/>
              </a:rPr>
              <a:t>(max-</a:t>
            </a:r>
            <a:r>
              <a:rPr sz="1800" spc="165" dirty="0">
                <a:solidFill>
                  <a:srgbClr val="001F5F"/>
                </a:solidFill>
                <a:latin typeface="Trebuchet MS"/>
                <a:cs typeface="Trebuchet MS"/>
              </a:rPr>
              <a:t>width:500px);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248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3600" spc="95" dirty="0">
                <a:solidFill>
                  <a:srgbClr val="001F5F"/>
                </a:solidFill>
              </a:rPr>
              <a:t>What</a:t>
            </a:r>
            <a:r>
              <a:rPr sz="3600" spc="-100" dirty="0">
                <a:solidFill>
                  <a:srgbClr val="001F5F"/>
                </a:solidFill>
              </a:rPr>
              <a:t> </a:t>
            </a:r>
            <a:r>
              <a:rPr sz="3600" spc="185" dirty="0">
                <a:solidFill>
                  <a:srgbClr val="001F5F"/>
                </a:solidFill>
              </a:rPr>
              <a:t>we</a:t>
            </a:r>
            <a:r>
              <a:rPr sz="3600" spc="-95" dirty="0">
                <a:solidFill>
                  <a:srgbClr val="001F5F"/>
                </a:solidFill>
              </a:rPr>
              <a:t> </a:t>
            </a:r>
            <a:r>
              <a:rPr sz="3600" spc="95" dirty="0">
                <a:solidFill>
                  <a:srgbClr val="001F5F"/>
                </a:solidFill>
              </a:rPr>
              <a:t>have</a:t>
            </a:r>
            <a:r>
              <a:rPr sz="3600" spc="-95" dirty="0">
                <a:solidFill>
                  <a:srgbClr val="001F5F"/>
                </a:solidFill>
              </a:rPr>
              <a:t> </a:t>
            </a:r>
            <a:r>
              <a:rPr sz="3600" spc="195" dirty="0">
                <a:solidFill>
                  <a:srgbClr val="001F5F"/>
                </a:solidFill>
              </a:rPr>
              <a:t>discussed</a:t>
            </a:r>
            <a:r>
              <a:rPr sz="3600" spc="-110" dirty="0">
                <a:solidFill>
                  <a:srgbClr val="001F5F"/>
                </a:solidFill>
              </a:rPr>
              <a:t> </a:t>
            </a:r>
            <a:r>
              <a:rPr sz="3600" spc="150" dirty="0">
                <a:solidFill>
                  <a:srgbClr val="001F5F"/>
                </a:solidFill>
              </a:rPr>
              <a:t>so</a:t>
            </a:r>
            <a:r>
              <a:rPr sz="3600" spc="-95" dirty="0">
                <a:solidFill>
                  <a:srgbClr val="001F5F"/>
                </a:solidFill>
              </a:rPr>
              <a:t> </a:t>
            </a:r>
            <a:r>
              <a:rPr sz="3600" spc="135" dirty="0">
                <a:solidFill>
                  <a:srgbClr val="001F5F"/>
                </a:solidFill>
              </a:rPr>
              <a:t>far…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3246" y="1860874"/>
            <a:ext cx="4159745" cy="38667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763" y="5979915"/>
            <a:ext cx="364236" cy="3553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1827276"/>
            <a:ext cx="473963" cy="4617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1200" y="2999232"/>
            <a:ext cx="473963" cy="4617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5244" y="4101084"/>
            <a:ext cx="473964" cy="4617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33701" y="1854200"/>
            <a:ext cx="4582795" cy="269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CSS-</a:t>
            </a:r>
            <a:r>
              <a:rPr sz="2400" spc="95" dirty="0">
                <a:latin typeface="Arial MT"/>
                <a:cs typeface="Arial MT"/>
              </a:rPr>
              <a:t>Transform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400">
              <a:latin typeface="Arial MT"/>
              <a:cs typeface="Arial MT"/>
            </a:endParaRPr>
          </a:p>
          <a:p>
            <a:pPr marL="84836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CSS-</a:t>
            </a:r>
            <a:r>
              <a:rPr sz="2400" spc="90" dirty="0">
                <a:latin typeface="Arial MT"/>
                <a:cs typeface="Arial MT"/>
              </a:rPr>
              <a:t>Transition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>
              <a:latin typeface="Arial MT"/>
              <a:cs typeface="Arial MT"/>
            </a:endParaRPr>
          </a:p>
          <a:p>
            <a:pPr marL="1964689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CSS-</a:t>
            </a:r>
            <a:r>
              <a:rPr sz="2400" spc="85" dirty="0">
                <a:latin typeface="Arial MT"/>
                <a:cs typeface="Arial MT"/>
              </a:rPr>
              <a:t>Media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105" dirty="0">
                <a:latin typeface="Arial MT"/>
                <a:cs typeface="Arial MT"/>
              </a:rPr>
              <a:t>Query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26190" y="6435756"/>
            <a:ext cx="1309271" cy="41202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9110">
              <a:lnSpc>
                <a:spcPct val="100000"/>
              </a:lnSpc>
              <a:spcBef>
                <a:spcPts val="100"/>
              </a:spcBef>
            </a:pPr>
            <a:r>
              <a:rPr spc="275" dirty="0"/>
              <a:t>Questions?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7391" y="1152144"/>
            <a:ext cx="5157216" cy="5155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971</Words>
  <Application>Microsoft Office PowerPoint</Application>
  <PresentationFormat>Widescreen</PresentationFormat>
  <Paragraphs>186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MT</vt:lpstr>
      <vt:lpstr>Bahnschrift</vt:lpstr>
      <vt:lpstr>Calibri</vt:lpstr>
      <vt:lpstr>Consolas</vt:lpstr>
      <vt:lpstr>Trebuchet MS</vt:lpstr>
      <vt:lpstr>Wingdings</vt:lpstr>
      <vt:lpstr>Office Theme</vt:lpstr>
      <vt:lpstr>CSS Chapter 3</vt:lpstr>
      <vt:lpstr>CSS3 2D Transforms</vt:lpstr>
      <vt:lpstr>Transform Translate</vt:lpstr>
      <vt:lpstr>Transform Rotate</vt:lpstr>
      <vt:lpstr>Transform Scale</vt:lpstr>
      <vt:lpstr>Transform Skew</vt:lpstr>
      <vt:lpstr>Transform Matrix</vt:lpstr>
      <vt:lpstr>CSS 3D Transforms</vt:lpstr>
      <vt:lpstr>3D Transform Rotate X</vt:lpstr>
      <vt:lpstr>3D Transform Rotate Y</vt:lpstr>
      <vt:lpstr>3D Transform Rotate Z</vt:lpstr>
      <vt:lpstr>Transitions in CSS-3</vt:lpstr>
      <vt:lpstr>Transition-Delay</vt:lpstr>
      <vt:lpstr>Transition-Timing-Function</vt:lpstr>
      <vt:lpstr>Transition-Property</vt:lpstr>
      <vt:lpstr>Animations</vt:lpstr>
      <vt:lpstr>Example:</vt:lpstr>
      <vt:lpstr>Properties included in animations</vt:lpstr>
      <vt:lpstr>Media Query</vt:lpstr>
      <vt:lpstr>Example:</vt:lpstr>
      <vt:lpstr>Media query syntax: external</vt:lpstr>
      <vt:lpstr>What we have discussed so far…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CSS-3 Transitions &amp; Animations</dc:title>
  <dc:creator>Pranavkrishna K S</dc:creator>
  <cp:lastModifiedBy>Apsara</cp:lastModifiedBy>
  <cp:revision>1</cp:revision>
  <dcterms:created xsi:type="dcterms:W3CDTF">2025-11-19T11:43:18Z</dcterms:created>
  <dcterms:modified xsi:type="dcterms:W3CDTF">2025-11-19T11:47:07Z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2025-11-19T00:00:00Z</vt:filetime>
  </property>
  <property fmtid="{D5CDD505-2E9C-101B-9397-08002B2CF9AE}" pid="5" name="Producer">
    <vt:lpwstr>Microsoft® PowerPoint® 2019</vt:lpwstr>
  </property>
</Properties>
</file>