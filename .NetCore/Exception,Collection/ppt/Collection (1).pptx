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Quattrocento Sans"/>
      <p:regular r:id="rId48"/>
      <p:bold r:id="rId49"/>
      <p:italic r:id="rId50"/>
      <p:boldItalic r:id="rId51"/>
    </p:embeddedFont>
    <p:embeddedFont>
      <p:font typeface="Bell M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Fb6VX7gQIxUG68zMNI/UJXz3F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QuattrocentoSans-regular.fntdata"/><Relationship Id="rId47" Type="http://schemas.openxmlformats.org/officeDocument/2006/relationships/slide" Target="slides/slide43.xml"/><Relationship Id="rId49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QuattrocentoSans-boldItalic.fntdata"/><Relationship Id="rId50" Type="http://schemas.openxmlformats.org/officeDocument/2006/relationships/font" Target="fonts/QuattrocentoSans-italic.fntdata"/><Relationship Id="rId53" Type="http://schemas.openxmlformats.org/officeDocument/2006/relationships/font" Target="fonts/BellMT-bold.fntdata"/><Relationship Id="rId52" Type="http://schemas.openxmlformats.org/officeDocument/2006/relationships/font" Target="fonts/BellMT-regular.fntdata"/><Relationship Id="rId11" Type="http://schemas.openxmlformats.org/officeDocument/2006/relationships/slide" Target="slides/slide7.xml"/><Relationship Id="rId55" Type="http://schemas.openxmlformats.org/officeDocument/2006/relationships/font" Target="fonts/BellMT-boldItalic.fntdata"/><Relationship Id="rId10" Type="http://schemas.openxmlformats.org/officeDocument/2006/relationships/slide" Target="slides/slide6.xml"/><Relationship Id="rId54" Type="http://schemas.openxmlformats.org/officeDocument/2006/relationships/font" Target="fonts/BellM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Relationship Id="rId10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Relationship Id="rId10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jp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73100" y="1397000"/>
            <a:ext cx="602932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6000"/>
              <a:buFont typeface="Bell MT"/>
              <a:buNone/>
            </a:pPr>
            <a:r>
              <a:rPr b="1" lang="en-US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COLLECTIONS</a:t>
            </a:r>
            <a:endParaRPr/>
          </a:p>
        </p:txBody>
      </p:sp>
      <p:pic>
        <p:nvPicPr>
          <p:cNvPr descr="b510_cjq1_210826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6313" y="638175"/>
            <a:ext cx="4254500" cy="577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Overview</a:t>
            </a:r>
            <a:endParaRPr/>
          </a:p>
        </p:txBody>
      </p:sp>
      <p:pic>
        <p:nvPicPr>
          <p:cNvPr descr="24000" id="96" name="Google Shape;96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75" y="1625600"/>
            <a:ext cx="51022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4000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75" y="2552700"/>
            <a:ext cx="5102225" cy="102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4000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3" y="3413125"/>
            <a:ext cx="5100637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4000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3" y="4273550"/>
            <a:ext cx="5100637" cy="90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2968625" y="1993900"/>
            <a:ext cx="20240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609850" y="2911475"/>
            <a:ext cx="2024063" cy="61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collection?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717675" y="3722688"/>
            <a:ext cx="41449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And Non-Generic Collections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254250" y="4533900"/>
            <a:ext cx="288607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a Custom Collection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NU_Flat_6_14" id="104" name="Google Shape;104;p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2763" y="801688"/>
            <a:ext cx="4491037" cy="4926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000"/>
              <a:buFont typeface="Bell MT"/>
              <a:buNone/>
            </a:pPr>
            <a:r>
              <a:rPr b="1" lang="en-US" sz="40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INTRODUCTION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D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808949" id="112" name="Google Shape;112;p3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4500" y="2284413"/>
            <a:ext cx="4559300" cy="34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709613" y="1666875"/>
            <a:ext cx="5310187" cy="9080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sometimes called a container  is simply an object that groups multiple elements into a single unit.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11200" y="2687638"/>
            <a:ext cx="5308600" cy="63658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is a kind of data structure.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09613" y="3438525"/>
            <a:ext cx="5310187" cy="7762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data structure is a way of storing data in a computer so that it can be used efficiently.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09613" y="4327525"/>
            <a:ext cx="5310187" cy="7762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Collections can improve code readability and self documentation, as well as enhance maintainability.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11200" y="5216525"/>
            <a:ext cx="5308600" cy="7778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C# Collection classes are defined as part of the System.Collections</a:t>
            </a:r>
            <a:endParaRPr/>
          </a:p>
        </p:txBody>
      </p:sp>
      <p:pic>
        <p:nvPicPr>
          <p:cNvPr descr="Aitrich-Logo-Transparent-BG-2048x671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490538" y="365125"/>
            <a:ext cx="82359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3600"/>
              <a:buFont typeface="Bell MT"/>
              <a:buNone/>
            </a:pPr>
            <a:r>
              <a:rPr b="1" lang="en-US" sz="36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TYPES OF COLLECTIONS IN .NET</a:t>
            </a:r>
            <a:endParaRPr/>
          </a:p>
        </p:txBody>
      </p:sp>
      <p:grpSp>
        <p:nvGrpSpPr>
          <p:cNvPr id="124" name="Google Shape;124;p4"/>
          <p:cNvGrpSpPr/>
          <p:nvPr/>
        </p:nvGrpSpPr>
        <p:grpSpPr>
          <a:xfrm>
            <a:off x="490538" y="1817164"/>
            <a:ext cx="9669780" cy="4233968"/>
            <a:chOff x="0" y="54928"/>
            <a:chExt cx="9669780" cy="4233545"/>
          </a:xfrm>
        </p:grpSpPr>
        <p:sp>
          <p:nvSpPr>
            <p:cNvPr id="125" name="Google Shape;125;p4"/>
            <p:cNvSpPr/>
            <p:nvPr/>
          </p:nvSpPr>
          <p:spPr>
            <a:xfrm>
              <a:off x="0" y="54928"/>
              <a:ext cx="9669780" cy="61114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5492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Non  Generic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0" y="665798"/>
              <a:ext cx="96697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666069"/>
              <a:ext cx="9669780" cy="1641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125" lIns="307000" spcFirstLastPara="1" rIns="135125" wrap="square" tIns="24125">
              <a:noAutofit/>
            </a:bodyPr>
            <a:lstStyle/>
            <a:p>
              <a:pPr indent="-114300" lvl="1" marL="114300" marR="0" rtl="0" algn="l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ArrayList</a:t>
              </a:r>
              <a:endParaRPr b="0" i="0" sz="1400" u="none" cap="none" strike="noStrik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114300" lvl="1" marL="114300" marR="0" rtl="0" algn="l"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Hashtable</a:t>
              </a:r>
              <a:endParaRPr b="0" i="0" sz="1400" u="none" cap="none" strike="noStrik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114300" lvl="1" marL="114300" marR="0" rtl="0" algn="l"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SortedList</a:t>
              </a:r>
              <a:endParaRPr b="0" i="0" sz="1400" u="none" cap="none" strike="noStrik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114300" lvl="1" marL="114300" marR="0" rtl="0" algn="l"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Queue</a:t>
              </a:r>
              <a:endParaRPr b="0" i="0" sz="1400" u="none" cap="none" strike="noStrik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114300" lvl="1" marL="114300" marR="0" rtl="0" algn="l"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Stack</a:t>
              </a:r>
              <a:endPara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-25400" lvl="1" marL="114300" marR="0" rtl="0" algn="l"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2307421"/>
              <a:ext cx="9669780" cy="611142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230790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Generics</a:t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125" lIns="307000" spcFirstLastPara="1" rIns="135125" wrap="square" tIns="24125">
              <a:noAutofit/>
            </a:bodyPr>
            <a:lstStyle/>
            <a:p>
              <a:pPr indent="-114300" lvl="1" marL="1143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ist&lt;T&gt;</a:t>
              </a:r>
              <a:endParaRPr/>
            </a:p>
            <a:p>
              <a:pPr indent="-114300" lvl="1" marL="114300" marR="0" rtl="0" algn="l">
                <a:spcBef>
                  <a:spcPts val="27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ictionary&lt;TKey,TValue&gt;</a:t>
              </a:r>
              <a:endParaRPr/>
            </a:p>
            <a:p>
              <a:pPr indent="-114300" lvl="1" marL="114300" marR="0" rtl="0" algn="l">
                <a:spcBef>
                  <a:spcPts val="27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rtedList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TKey,TValue&gt;</a:t>
              </a:r>
              <a:endParaRPr/>
            </a:p>
            <a:p>
              <a:pPr indent="-114300" lvl="1" marL="114300" marR="0" rtl="0" algn="l">
                <a:spcBef>
                  <a:spcPts val="27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ueue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T&gt;</a:t>
              </a:r>
              <a:endParaRPr/>
            </a:p>
            <a:p>
              <a:pPr indent="-114300" lvl="1" marL="114300" marR="0" rtl="0" algn="l">
                <a:spcBef>
                  <a:spcPts val="27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1400" u="none" cap="none" strike="noStrik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tack&lt;T&gt;</a:t>
              </a:r>
              <a:endParaRPr/>
            </a:p>
          </p:txBody>
        </p:sp>
      </p:grpSp>
      <p:pic>
        <p:nvPicPr>
          <p:cNvPr descr="Aitrich-Logo-Transparent-BG-2048x671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800"/>
              <a:buFont typeface="Bell MT"/>
              <a:buNone/>
            </a:pPr>
            <a:r>
              <a:rPr b="1" lang="en-US" sz="48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NON-GENERIC COLLECTIONS</a:t>
            </a:r>
            <a:endParaRPr/>
          </a:p>
        </p:txBody>
      </p:sp>
      <p:pic>
        <p:nvPicPr>
          <p:cNvPr descr="19882" id="139" name="Google Shape;13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575" y="1976438"/>
            <a:ext cx="7972425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139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438" y="4316413"/>
            <a:ext cx="1522412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>
            <p:ph type="title"/>
          </p:nvPr>
        </p:nvSpPr>
        <p:spPr>
          <a:xfrm>
            <a:off x="5026025" y="5137150"/>
            <a:ext cx="2133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Comic Sans MS"/>
              <a:buNone/>
            </a:pPr>
            <a:r>
              <a:rPr lang="en-US" sz="1335">
                <a:latin typeface="Comic Sans MS"/>
                <a:ea typeface="Comic Sans MS"/>
                <a:cs typeface="Comic Sans MS"/>
                <a:sym typeface="Comic Sans MS"/>
              </a:rPr>
              <a:t>It represents a collection of key-value pairs in which keys are unique and the values can be of any type</a:t>
            </a:r>
            <a:endParaRPr sz="1335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79500" y="1277938"/>
            <a:ext cx="8724900" cy="5048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Non-generic collections in C# are collections that can hold objects of any type.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79500" y="2130425"/>
            <a:ext cx="8724900" cy="482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 namespace and include the following classes:</a:t>
            </a:r>
            <a:endParaRPr/>
          </a:p>
        </p:txBody>
      </p:sp>
      <p:pic>
        <p:nvPicPr>
          <p:cNvPr descr="painted-surface-with-abstract-watercolor"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875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0950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9475" y="3378200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338" y="3303588"/>
            <a:ext cx="1343025" cy="1011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people with solid fill" id="154" name="Google Shape;154;p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25" y="3497263"/>
            <a:ext cx="6794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155" name="Google Shape;155;p6"/>
          <p:cNvPicPr preferRelativeResize="0"/>
          <p:nvPr/>
        </p:nvPicPr>
        <p:blipFill rotWithShape="1">
          <a:blip r:embed="rId6">
            <a:alphaModFix/>
          </a:blip>
          <a:srcRect b="0" l="128" r="128" t="0"/>
          <a:stretch/>
        </p:blipFill>
        <p:spPr>
          <a:xfrm>
            <a:off x="5700713" y="36099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156" name="Google Shape;15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0038" y="35718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with solid fill" id="157" name="Google Shape;15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39363" y="35718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550" y="4314825"/>
            <a:ext cx="1520825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1443038" y="4530725"/>
            <a:ext cx="8270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855663" y="5311775"/>
            <a:ext cx="2001837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array implementation that can store objects of any type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3206750" y="5287963"/>
            <a:ext cx="1760538" cy="101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 class that represents a collection of key-value pairs sorted by key.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7448550" y="5327650"/>
            <a:ext cx="192087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 is a collection class that represents a last-in, first-out (LIFO) collection of objects.</a:t>
            </a:r>
            <a:endParaRPr/>
          </a:p>
        </p:txBody>
      </p:sp>
      <p:pic>
        <p:nvPicPr>
          <p:cNvPr descr="List with solid fill" id="163" name="Google Shape;16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08125" y="3497263"/>
            <a:ext cx="620713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9558338" y="5351463"/>
            <a:ext cx="21320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 is a collection class that represents a first-in, first-out (FIFO) collection of objects.</a:t>
            </a:r>
            <a:endParaRPr/>
          </a:p>
        </p:txBody>
      </p:sp>
      <p:pic>
        <p:nvPicPr>
          <p:cNvPr descr="19139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4316413"/>
            <a:ext cx="1520825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775" y="4316413"/>
            <a:ext cx="1520825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800" y="4316413"/>
            <a:ext cx="1520825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3621088" y="4529138"/>
            <a:ext cx="93186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SortedList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5572125" y="4530725"/>
            <a:ext cx="1041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HashTable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10182225" y="4530725"/>
            <a:ext cx="1041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7978775" y="4530725"/>
            <a:ext cx="1041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/>
          </a:p>
        </p:txBody>
      </p:sp>
      <p:pic>
        <p:nvPicPr>
          <p:cNvPr descr="Aitrich-Logo-Transparent-BG-2048x671" id="172" name="Google Shape;17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4113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st with solid fill" id="174" name="Google Shape;1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7175" y="3497263"/>
            <a:ext cx="622300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909638" y="5588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ARRAY LIST</a:t>
            </a:r>
            <a:b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76288" y="3278188"/>
            <a:ext cx="6370637" cy="12684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resizable array-like data structure with automatic expansion and contraction capabilities.</a:t>
            </a:r>
            <a:endParaRPr b="0" i="1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76288" y="2025650"/>
            <a:ext cx="6370637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an ArrayList is a dynamic array implementation that can store objects of any type. </a:t>
            </a:r>
            <a:endParaRPr/>
          </a:p>
        </p:txBody>
      </p:sp>
      <p:pic>
        <p:nvPicPr>
          <p:cNvPr descr="4952527" id="182" name="Google Shape;18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7575" y="858838"/>
            <a:ext cx="4351338" cy="580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183" name="Google Shape;1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847725" y="2638425"/>
            <a:ext cx="6370638" cy="3268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28575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RemoveAt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14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189" name="Google Shape;18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0138" y="1701800"/>
            <a:ext cx="435133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912275" y="1346200"/>
            <a:ext cx="6370500" cy="925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Array list class is defined in the System.Collections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</a:t>
            </a:r>
            <a:endParaRPr/>
          </a:p>
        </p:txBody>
      </p:sp>
      <p:pic>
        <p:nvPicPr>
          <p:cNvPr descr="Aitrich-Logo-Transparent-BG-2048x671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descr="Aitrich-Logo-Transparent-BG-2048x671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25625"/>
            <a:ext cx="6707188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HASHTABLE</a:t>
            </a:r>
            <a:endParaRPr/>
          </a:p>
        </p:txBody>
      </p:sp>
      <p:pic>
        <p:nvPicPr>
          <p:cNvPr descr="705" id="205" name="Google Shape;20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7900" y="1511300"/>
            <a:ext cx="4352925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838200" y="1841500"/>
            <a:ext cx="6369050" cy="17176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Hashtable is a collection class that represents a collection of key-value pairs in which keys are unique and the values can be of any type. 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847725" y="3841750"/>
            <a:ext cx="6369050" cy="11906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fast way to store and retrieve data by using a hash table algorithm that maps keys to their corresponding values.</a:t>
            </a:r>
            <a:endParaRPr/>
          </a:p>
        </p:txBody>
      </p:sp>
      <p:pic>
        <p:nvPicPr>
          <p:cNvPr descr="Aitrich-Logo-Transparent-BG-2048x671" id="208" name="Google Shape;2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1076325" y="2460625"/>
            <a:ext cx="6369050" cy="330041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28575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 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71450" lvl="0" marL="285750" marR="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1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214" name="Google Shape;214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1738" y="2054225"/>
            <a:ext cx="435133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1076325" y="1258888"/>
            <a:ext cx="6369050" cy="7953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Hashtable class is defined in the System.Collections namespace </a:t>
            </a:r>
            <a:endParaRPr/>
          </a:p>
        </p:txBody>
      </p:sp>
      <p:pic>
        <p:nvPicPr>
          <p:cNvPr descr="Aitrich-Logo-Transparent-BG-2048x671" id="216" name="Google Shape;2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25625"/>
            <a:ext cx="620712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574675" y="2095500"/>
            <a:ext cx="6369050" cy="12922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Queue is a collection class that represents a first-in, first-out (FIFO) collection of objects.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574675" y="3708400"/>
            <a:ext cx="6369050" cy="13620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"first in, first out" order, where the first object added is the first object to be removed.</a:t>
            </a:r>
            <a:endParaRPr/>
          </a:p>
        </p:txBody>
      </p:sp>
      <p:pic>
        <p:nvPicPr>
          <p:cNvPr descr="2007.i105.015_isometric_queue_set-04" id="232" name="Google Shape;232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3725" y="1806575"/>
            <a:ext cx="5181600" cy="359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233" name="Google Shape;2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718913" y="2116926"/>
            <a:ext cx="6370500" cy="2624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239" name="Google Shape;23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1690688"/>
            <a:ext cx="4352925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/>
          <p:nvPr/>
        </p:nvSpPr>
        <p:spPr>
          <a:xfrm>
            <a:off x="919163" y="1152525"/>
            <a:ext cx="6370637" cy="8445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Queue class is defined in the System.Collections namespace </a:t>
            </a:r>
            <a:endParaRPr/>
          </a:p>
        </p:txBody>
      </p:sp>
      <p:pic>
        <p:nvPicPr>
          <p:cNvPr descr="Aitrich-Logo-Transparent-BG-2048x671" id="241" name="Google Shape;2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247" name="Google Shape;2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681163"/>
            <a:ext cx="518160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838200" y="1571625"/>
            <a:ext cx="5181600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736600" y="1690688"/>
            <a:ext cx="6369050" cy="12906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Stack is a collection class that represents a last-in, first-out (LIFO) collection of objects.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736600" y="3203575"/>
            <a:ext cx="6369050" cy="13604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"Last in, first out" order, where the first object added is the first object to be removed.</a:t>
            </a:r>
            <a:endParaRPr/>
          </a:p>
        </p:txBody>
      </p:sp>
      <p:pic>
        <p:nvPicPr>
          <p:cNvPr descr="6881275" id="257" name="Google Shape;25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9813" y="1571625"/>
            <a:ext cx="4351337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258" name="Google Shape;2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/>
          <p:nvPr/>
        </p:nvSpPr>
        <p:spPr>
          <a:xfrm>
            <a:off x="909638" y="2381250"/>
            <a:ext cx="6369050" cy="24955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Push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Pop,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264" name="Google Shape;26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9338" y="1550988"/>
            <a:ext cx="4351337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7"/>
          <p:cNvSpPr/>
          <p:nvPr/>
        </p:nvSpPr>
        <p:spPr>
          <a:xfrm>
            <a:off x="909638" y="1206500"/>
            <a:ext cx="6369050" cy="8445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Stack class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/>
          </a:p>
        </p:txBody>
      </p:sp>
      <p:pic>
        <p:nvPicPr>
          <p:cNvPr descr="Aitrich-Logo-Transparent-BG-2048x671" id="266" name="Google Shape;2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272" name="Google Shape;2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33563"/>
            <a:ext cx="6992938" cy="460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SORTED LIST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736600" y="1933575"/>
            <a:ext cx="6369050" cy="84455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 List is a collection class that represents a collection of key-value pairs sorted by key.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736600" y="3038475"/>
            <a:ext cx="6369050" cy="5683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key cannot be a null reference, but a value can be.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736600" y="4648200"/>
            <a:ext cx="6369050" cy="711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SortedList object automatically sort the items in alphabetic or numeric order.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736600" y="5591175"/>
            <a:ext cx="6369050" cy="5683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uses a binary search algorithm to locate elements quickly.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736600" y="3848100"/>
            <a:ext cx="6369050" cy="5683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 is a combination of the Array and the Hashtable.</a:t>
            </a:r>
            <a:endParaRPr/>
          </a:p>
        </p:txBody>
      </p:sp>
      <p:pic>
        <p:nvPicPr>
          <p:cNvPr descr="46121" id="285" name="Google Shape;285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8525" y="1808163"/>
            <a:ext cx="4351338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286" name="Google Shape;2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907915" id="291" name="Google Shape;29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225" y="1541463"/>
            <a:ext cx="4352925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/>
          <p:nvPr/>
        </p:nvSpPr>
        <p:spPr>
          <a:xfrm>
            <a:off x="909638" y="1314450"/>
            <a:ext cx="6369050" cy="8461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Sorted List class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909638" y="2405063"/>
            <a:ext cx="6369050" cy="309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Add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Remove,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 key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IndexOfKey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IndexOfValue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itrich-Logo-Transparent-BG-2048x671" id="294" name="Google Shape;2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300" name="Google Shape;3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3" y="2051050"/>
            <a:ext cx="5481637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9388" y="2051050"/>
            <a:ext cx="3459162" cy="178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/>
          <p:nvPr>
            <p:ph idx="1" type="body"/>
          </p:nvPr>
        </p:nvSpPr>
        <p:spPr>
          <a:xfrm>
            <a:off x="442913" y="638175"/>
            <a:ext cx="8202612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sz="4800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2D86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GENERIC COLLECTIONS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sz="4800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descr="2106.w022.n001.434B.p15.434" id="308" name="Google Shape;308;p2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3725863"/>
            <a:ext cx="5181600" cy="1849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309" name="Google Shape;3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650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139" id="314" name="Google Shape;3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325" y="4341813"/>
            <a:ext cx="1974850" cy="73818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/>
          <p:nvPr/>
        </p:nvSpPr>
        <p:spPr>
          <a:xfrm>
            <a:off x="869950" y="1095375"/>
            <a:ext cx="10104438" cy="5048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collections are collections that are type-safe and can only hold objects of a specifictype. 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869950" y="1957388"/>
            <a:ext cx="8726488" cy="4810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System.Collections.Generic namespace and include the following classes:</a:t>
            </a:r>
            <a:endParaRPr/>
          </a:p>
        </p:txBody>
      </p:sp>
      <p:pic>
        <p:nvPicPr>
          <p:cNvPr descr="painted-surface-with-abstract-watercolor" id="317" name="Google Shape;3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318" name="Google Shape;3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875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0950" y="3303588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320" name="Google Shape;3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9475" y="3378200"/>
            <a:ext cx="13430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-surface-with-abstract-watercolor" id="321" name="Google Shape;3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338" y="3303588"/>
            <a:ext cx="1343025" cy="1011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people with solid fill" id="322" name="Google Shape;322;p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7425" y="3378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323" name="Google Shape;323;p23"/>
          <p:cNvPicPr preferRelativeResize="0"/>
          <p:nvPr/>
        </p:nvPicPr>
        <p:blipFill rotWithShape="1">
          <a:blip r:embed="rId6">
            <a:alphaModFix/>
          </a:blip>
          <a:srcRect b="0" l="128" r="128" t="0"/>
          <a:stretch/>
        </p:blipFill>
        <p:spPr>
          <a:xfrm>
            <a:off x="5700713" y="36099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with solid fill" id="324" name="Google Shape;3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0038" y="35718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with solid fill" id="325" name="Google Shape;32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39363" y="3571875"/>
            <a:ext cx="622300" cy="62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326" name="Google Shape;3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550" y="4314825"/>
            <a:ext cx="1520825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1443038" y="4530725"/>
            <a:ext cx="8270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List&lt;T&gt;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855663" y="5311775"/>
            <a:ext cx="1763712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b="0" i="0" lang="en-US" sz="1200" u="none" cap="none" strike="noStrike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dynamic-sized list that can hold objects of type T.</a:t>
            </a:r>
            <a:endParaRPr b="1" i="0" sz="1200" u="none" cap="none" strike="noStrike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3206750" y="5287963"/>
            <a:ext cx="19145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b="0" i="1" lang="en-US" sz="1200" u="none" cap="none" strike="noStrike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key/value pairs that maps keys of type TKey to values of type TValue.</a:t>
            </a:r>
            <a:endParaRPr b="1" i="1" sz="1200" u="none" cap="none" strike="noStrike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7448550" y="5327650"/>
            <a:ext cx="192087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b="0" i="0" lang="en-US" sz="1200" u="none" cap="none" strike="noStrike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LIFO (last-in, first-out) manner.</a:t>
            </a:r>
            <a:endParaRPr b="1" i="0" sz="1200" u="none" cap="none" strike="noStrike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List with solid fill" id="331" name="Google Shape;33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08125" y="3497263"/>
            <a:ext cx="620713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9558338" y="5351463"/>
            <a:ext cx="21320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b="0" i="0" lang="en-US" sz="1200" u="none" cap="none" strike="noStrike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FIFO (first-in, first-out) manner.</a:t>
            </a:r>
            <a:endParaRPr b="1" i="0" sz="1200" u="none" cap="none" strike="noStrike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19139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550" y="4341813"/>
            <a:ext cx="1944688" cy="738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334" name="Google Shape;3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775" y="4316413"/>
            <a:ext cx="1520825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9139" id="335" name="Google Shape;3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800" y="4316413"/>
            <a:ext cx="1520825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 txBox="1"/>
          <p:nvPr/>
        </p:nvSpPr>
        <p:spPr>
          <a:xfrm>
            <a:off x="3335338" y="4581525"/>
            <a:ext cx="1785937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Dictionary&lt;Tkey,TValue&gt;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5408613" y="4581525"/>
            <a:ext cx="1985962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SortedList&lt;TKey,TValue&gt;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10069513" y="4565650"/>
            <a:ext cx="1042987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Queue&lt;T&gt;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7978775" y="4530725"/>
            <a:ext cx="10414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Stack&lt;T&gt;</a:t>
            </a:r>
            <a:endParaRPr/>
          </a:p>
        </p:txBody>
      </p:sp>
      <p:pic>
        <p:nvPicPr>
          <p:cNvPr descr="Aitrich-Logo-Transparent-BG-2048x671" id="340" name="Google Shape;34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 txBox="1"/>
          <p:nvPr/>
        </p:nvSpPr>
        <p:spPr>
          <a:xfrm>
            <a:off x="5349875" y="5287963"/>
            <a:ext cx="18383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Quattrocento Sans"/>
              <a:buNone/>
            </a:pPr>
            <a:r>
              <a:rPr b="0" i="1" lang="en-US" sz="1200" u="none" cap="none" strike="noStrike">
                <a:solidFill>
                  <a:srgbClr val="012D8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collection of key/value pairs that are sorted by the keys of type TKey.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LIST&lt;T&gt;</a:t>
            </a:r>
            <a:b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776288" y="3111500"/>
            <a:ext cx="6370637" cy="12668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 and provides a flexible way to store and manipulate collections of objects.</a:t>
            </a:r>
            <a:endParaRPr b="0" i="1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776288" y="2025650"/>
            <a:ext cx="6370637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C# is a generic collection that represents a dynamic-sized list of objects of type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776288" y="4537075"/>
            <a:ext cx="6370637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List&lt;T&gt; class is the generic equivalent of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ArrayList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class. </a:t>
            </a:r>
            <a:endParaRPr/>
          </a:p>
        </p:txBody>
      </p:sp>
      <p:pic>
        <p:nvPicPr>
          <p:cNvPr descr="4952527" id="350" name="Google Shape;350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6300" y="1568450"/>
            <a:ext cx="4351338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351" name="Google Shape;3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ct val="111111"/>
              <a:buFont typeface="Bell MT"/>
              <a:buNone/>
            </a:pPr>
            <a:r>
              <a:rPr b="1" lang="en-US" sz="32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Some of the main features of List&lt;T&gt; include:</a:t>
            </a:r>
            <a:br>
              <a:rPr b="1" lang="en-US" sz="32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br>
              <a:rPr b="1" lang="en-US" sz="32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b="1" sz="3200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descr="705" id="357" name="Google Shape;3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4200" y="1746250"/>
            <a:ext cx="3149600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/>
          <p:nvPr/>
        </p:nvSpPr>
        <p:spPr>
          <a:xfrm>
            <a:off x="774700" y="2552700"/>
            <a:ext cx="6370638" cy="101441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which provides type safety and prevents runtime errors.</a:t>
            </a:r>
            <a:endParaRPr b="0" i="1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776288" y="3686175"/>
            <a:ext cx="6369050" cy="92551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Index-based access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Items in a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accessed by their index, making it easy to retrieve and manipulate specific items in the list.</a:t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774700" y="4730750"/>
            <a:ext cx="6370638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Built-in functionality 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provides a range of methods for adding, removing, searching, and sorting items in the list.</a:t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776288" y="1506538"/>
            <a:ext cx="6369050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items as needed.</a:t>
            </a:r>
            <a:endParaRPr/>
          </a:p>
        </p:txBody>
      </p:sp>
      <p:pic>
        <p:nvPicPr>
          <p:cNvPr descr="Aitrich-Logo-Transparent-BG-2048x671" id="362" name="Google Shape;3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/>
          <p:nvPr>
            <p:ph type="title"/>
          </p:nvPr>
        </p:nvSpPr>
        <p:spPr>
          <a:xfrm>
            <a:off x="0" y="6111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368" name="Google Shape;3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738" y="1773238"/>
            <a:ext cx="528955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DICTIONARY&lt;TKEY, TVALUE&gt;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776288" y="3394075"/>
            <a:ext cx="6370637" cy="126841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 the System.Collections.Generic namespace and provides a flexible way to store and manipulate collections of key/value pairs.​</a:t>
            </a:r>
            <a:endParaRPr b="0" i="1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777875" y="2219325"/>
            <a:ext cx="6369050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generic collection that represents a collection of key/value pairs. </a:t>
            </a:r>
            <a:endParaRPr/>
          </a:p>
        </p:txBody>
      </p:sp>
      <p:pic>
        <p:nvPicPr>
          <p:cNvPr descr="Aitrich-Logo-Transparent-BG-2048x671" id="378" name="Google Shape;3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05" id="383" name="Google Shape;3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4200" y="1746250"/>
            <a:ext cx="3149600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/>
          <p:nvPr/>
        </p:nvSpPr>
        <p:spPr>
          <a:xfrm>
            <a:off x="776288" y="2632075"/>
            <a:ext cx="6370637" cy="863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Fast lookup: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Because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implemented as a hash table, accessing an element in the dictionary by key is very fast. </a:t>
            </a:r>
            <a:endParaRPr b="0" i="1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776288" y="3744913"/>
            <a:ext cx="6369050" cy="9255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key/value pairs as needed.</a:t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776288" y="4829175"/>
            <a:ext cx="6370637" cy="102711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TKey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keys and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TValue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values, which provides type safety and prevents runtime errors.</a:t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776288" y="1457325"/>
            <a:ext cx="6370637" cy="927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Key/value pairs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stores a collection of key/value pairs. Each key in the dictionary is unique.</a:t>
            </a:r>
            <a:endParaRPr/>
          </a:p>
        </p:txBody>
      </p:sp>
      <p:pic>
        <p:nvPicPr>
          <p:cNvPr descr="Aitrich-Logo-Transparent-BG-2048x671" id="388" name="Google Shape;38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/>
          <p:nvPr/>
        </p:nvSpPr>
        <p:spPr>
          <a:xfrm>
            <a:off x="1009650" y="1431925"/>
            <a:ext cx="6370638" cy="42433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Add(TKey key, TValue value)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ContainsKey(TKey key)</a:t>
            </a: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ContainsValue(TValue value)</a:t>
            </a:r>
            <a:endParaRPr b="1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Remove(TKey key)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Clear()</a:t>
            </a:r>
            <a:endParaRPr b="1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394" name="Google Shape;39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263" y="1431925"/>
            <a:ext cx="435133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395" name="Google Shape;39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14513"/>
            <a:ext cx="6372225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SORTEDLIST&lt;TKEY, TVALUE&gt; </a:t>
            </a:r>
            <a:endParaRPr/>
          </a:p>
        </p:txBody>
      </p:sp>
      <p:sp>
        <p:nvSpPr>
          <p:cNvPr id="409" name="Google Shape;409;p31"/>
          <p:cNvSpPr/>
          <p:nvPr/>
        </p:nvSpPr>
        <p:spPr>
          <a:xfrm>
            <a:off x="777875" y="3221038"/>
            <a:ext cx="6461125" cy="154146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System.Collections.Generic namespace and provides a way to store and manipulate collections of key/value pairs in a sorted order.</a:t>
            </a:r>
            <a:endParaRPr b="0" i="1" sz="1600" u="none" cap="none" strike="noStrike">
              <a:solidFill>
                <a:srgbClr val="D1D5DB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777875" y="1816100"/>
            <a:ext cx="6461125" cy="10382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SortedList&lt;TKey, TValue&gt; 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a generic collection that represents a collection of key/value pairs that are sorted by key.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46121" id="411" name="Google Shape;41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0138" y="1816100"/>
            <a:ext cx="435133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412" name="Google Shape;4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05" id="417" name="Google Shape;4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4200" y="1746250"/>
            <a:ext cx="3149600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2"/>
          <p:cNvSpPr/>
          <p:nvPr/>
        </p:nvSpPr>
        <p:spPr>
          <a:xfrm>
            <a:off x="969963" y="1593850"/>
            <a:ext cx="6370637" cy="42433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Add(TKey key, TValue value)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ContainsKey(TKey key)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ContainsValue(TValue value)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Remove(TKey key)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Clear()</a:t>
            </a:r>
            <a:endParaRPr b="0" i="0" sz="1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itrich-Logo-Transparent-BG-2048x671" id="419" name="Google Shape;41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425" name="Google Shape;4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25625"/>
            <a:ext cx="611505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QUEUE&lt;T&gt;</a:t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574675" y="2095500"/>
            <a:ext cx="6369050" cy="12922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Queue&lt;T&gt;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 in C# that represents a first-in, first-out (FIFO) data structure.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574675" y="3587750"/>
            <a:ext cx="6369050" cy="136048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order in which they were added.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2007.i105.015_isometric_queue_set-04" id="435" name="Google Shape;43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7075" y="1676400"/>
            <a:ext cx="4846638" cy="359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436" name="Google Shape;43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/>
          <p:nvPr/>
        </p:nvSpPr>
        <p:spPr>
          <a:xfrm>
            <a:off x="930275" y="2116138"/>
            <a:ext cx="6369050" cy="26241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442" name="Google Shape;442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0613" y="1490663"/>
            <a:ext cx="4351337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443" name="Google Shape;4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449" name="Google Shape;4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825625"/>
            <a:ext cx="51816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STACK&lt;T&gt;</a:t>
            </a:r>
            <a:endParaRPr/>
          </a:p>
        </p:txBody>
      </p:sp>
      <p:sp>
        <p:nvSpPr>
          <p:cNvPr id="457" name="Google Shape;457;p37"/>
          <p:cNvSpPr/>
          <p:nvPr/>
        </p:nvSpPr>
        <p:spPr>
          <a:xfrm>
            <a:off x="736600" y="3243263"/>
            <a:ext cx="6369050" cy="136048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specific datatype  order in which they were added.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6881275" id="458" name="Google Shape;458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8538" y="1531938"/>
            <a:ext cx="4351337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7"/>
          <p:cNvSpPr/>
          <p:nvPr/>
        </p:nvSpPr>
        <p:spPr>
          <a:xfrm>
            <a:off x="736600" y="1822450"/>
            <a:ext cx="6369050" cy="12906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Stack&lt;T&gt;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  that represents a last-in, first-out (LIFO) data structure.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itrich-Logo-Transparent-BG-2048x671" id="460" name="Google Shape;46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8"/>
          <p:cNvSpPr/>
          <p:nvPr/>
        </p:nvSpPr>
        <p:spPr>
          <a:xfrm>
            <a:off x="930275" y="1855788"/>
            <a:ext cx="6369050" cy="29305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b="0" i="0" sz="16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3907915" id="466" name="Google Shape;466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1738" y="1774825"/>
            <a:ext cx="435133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rich-Logo-Transparent-BG-2048x671" id="467" name="Google Shape;46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trich-Logo-Transparent-BG-2048x671" id="473" name="Google Shape;4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738" y="1503363"/>
            <a:ext cx="5419725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STACK&lt;T&gt;</a:t>
            </a:r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736600" y="3243263"/>
            <a:ext cx="6369050" cy="136048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specific datatype  order in which they were added.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6881275" id="482" name="Google Shape;482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8538" y="1531938"/>
            <a:ext cx="4351337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0"/>
          <p:cNvSpPr/>
          <p:nvPr/>
        </p:nvSpPr>
        <p:spPr>
          <a:xfrm>
            <a:off x="736600" y="1822450"/>
            <a:ext cx="6369050" cy="12906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Stack&lt;T&gt;</a:t>
            </a:r>
            <a:r>
              <a:rPr b="0" i="0" lang="en-US" sz="1600" u="none" cap="none" strike="noStrike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  that represents a last-in, first-out (LIFO) data structure.</a:t>
            </a:r>
            <a:endParaRPr b="0" i="0" sz="1600" u="none" cap="none" strike="noStrike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itrich-Logo-Transparent-BG-2048x671"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LINQ-Language Integrated Query</a:t>
            </a:r>
            <a:endParaRPr/>
          </a:p>
        </p:txBody>
      </p:sp>
      <p:sp>
        <p:nvSpPr>
          <p:cNvPr id="490" name="Google Shape;490;p41"/>
          <p:cNvSpPr/>
          <p:nvPr/>
        </p:nvSpPr>
        <p:spPr>
          <a:xfrm>
            <a:off x="838200" y="3611563"/>
            <a:ext cx="7226300" cy="15525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LINQ introduces a set of standard query operators that can be used with any data source that implements the IEnumerable&lt;T&gt; interface. These operators are defined as extension methods in the System.Linq namespace.</a:t>
            </a:r>
            <a:endParaRPr/>
          </a:p>
        </p:txBody>
      </p:sp>
      <p:sp>
        <p:nvSpPr>
          <p:cNvPr id="491" name="Google Shape;491;p41"/>
          <p:cNvSpPr/>
          <p:nvPr/>
        </p:nvSpPr>
        <p:spPr>
          <a:xfrm>
            <a:off x="838200" y="1690688"/>
            <a:ext cx="7226300" cy="17859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powerful feature in C# that provides a unified way to query and manipulate data from different data sources. It allows you to write queries against collections, databases, XML documents, and other data sources using a consistent syntax.</a:t>
            </a:r>
            <a:endParaRPr/>
          </a:p>
        </p:txBody>
      </p:sp>
      <p:pic>
        <p:nvPicPr>
          <p:cNvPr descr="Aitrich-Logo-Transparent-BG-2048x671" id="492" name="Google Shape;4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907915" id="493" name="Google Shape;493;p4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6425" y="1690688"/>
            <a:ext cx="3606800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b="1" lang="en-US" sz="4400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 - Example</a:t>
            </a:r>
            <a:endParaRPr/>
          </a:p>
        </p:txBody>
      </p:sp>
      <p:pic>
        <p:nvPicPr>
          <p:cNvPr descr="Aitrich-Logo-Transparent-BG-2048x671" id="499" name="Google Shape;49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6527800"/>
            <a:ext cx="1166813" cy="166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907915" id="500" name="Google Shape;500;p4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6425" y="1690688"/>
            <a:ext cx="3606800" cy="435133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/>
          <p:nvPr/>
        </p:nvSpPr>
        <p:spPr>
          <a:xfrm>
            <a:off x="838200" y="1484313"/>
            <a:ext cx="6510338" cy="48339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static void Main()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{/ /Create a list of integers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List&lt;string&gt; memberList = new List&lt;string&gt; {“Agent",“Consultant",“Customer"};// Query the list using LINQ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var allMembers = from member in memberList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	        select member;// Iterate over the query results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foreach (var member in allMembers)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  Console.WriteLine(member);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Console.ReadLine();   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baseline="30000" i="0" lang="en-US" sz="2600" u="none" cap="none" strike="noStrike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b="0" baseline="30000" i="0" sz="2600" u="none" cap="none" strike="noStrike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nq" id="506" name="Google Shape;506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254125"/>
            <a:ext cx="670560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2022-10-11T08:26:00Z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56BD2055CB2E4CD7B9FE413683165DA3</vt:lpwstr>
  </property>
  <property fmtid="{D5CDD505-2E9C-101B-9397-08002B2CF9AE}" pid="3" name="KSOProductBuildVer">
    <vt:lpwstr>1033-11.2.0.11537</vt:lpwstr>
  </property>
</Properties>
</file>