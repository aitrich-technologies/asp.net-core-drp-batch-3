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313863"/>
  <p:embeddedFontLst>
    <p:embeddedFont>
      <p:font typeface="Aparajita" panose="02020603050405020304" pitchFamily="18" charset="0"/>
      <p:regular r:id="rId30"/>
    </p:embeddedFont>
    <p:embeddedFont>
      <p:font typeface="Bell MT" panose="02020503060305020303" pitchFamily="18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7" roundtripDataSignature="AMtx7mjxULmGoAFz80eUBNQIM6PNMc95xQ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asiya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88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customschemas.google.com/relationships/presentationmetadata" Target="meta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3-06-06T05:59:18.471" idx="1">
    <p:pos x="6076" y="2785"/>
    <p:text/>
    <p:extLst>
      <p:ext uri="{C676402C-5697-4E1C-873F-D02D1690AC5C}">
        <p15:threadingInfo xmlns:p15="http://schemas.microsoft.com/office/powerpoint/2012/main" timeZoneBias="0"/>
      </p:ext>
      <p:ext uri="http://customooxmlschemas.google.com/">
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ommentPostId="AAAB1LVVJ68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67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67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35000" y="1163638"/>
            <a:ext cx="5588000" cy="3143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82296"/>
            <a:ext cx="5486400" cy="3667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846554"/>
            <a:ext cx="2971800" cy="467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846554"/>
            <a:ext cx="2971800" cy="467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82296"/>
            <a:ext cx="5486400" cy="3667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35000" y="1163638"/>
            <a:ext cx="5588000" cy="3143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35000" y="1163638"/>
            <a:ext cx="5588000" cy="3143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82296"/>
            <a:ext cx="5486400" cy="3667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>
            <a:spLocks noGrp="1"/>
          </p:cNvSpPr>
          <p:nvPr>
            <p:ph type="body" idx="1"/>
          </p:nvPr>
        </p:nvSpPr>
        <p:spPr>
          <a:xfrm>
            <a:off x="685800" y="4482296"/>
            <a:ext cx="5486400" cy="3667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35000" y="1163638"/>
            <a:ext cx="5588000" cy="3143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35000" y="1163638"/>
            <a:ext cx="5588000" cy="3143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9" name="Google Shape;109;p4:notes"/>
          <p:cNvSpPr txBox="1">
            <a:spLocks noGrp="1"/>
          </p:cNvSpPr>
          <p:nvPr>
            <p:ph type="body" idx="1"/>
          </p:nvPr>
        </p:nvSpPr>
        <p:spPr>
          <a:xfrm>
            <a:off x="685800" y="4482296"/>
            <a:ext cx="5486400" cy="3667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>
            <a:spLocks noGrp="1"/>
          </p:cNvSpPr>
          <p:nvPr>
            <p:ph type="body" idx="1"/>
          </p:nvPr>
        </p:nvSpPr>
        <p:spPr>
          <a:xfrm>
            <a:off x="685800" y="4482296"/>
            <a:ext cx="5486400" cy="3667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35000" y="1163638"/>
            <a:ext cx="5588000" cy="3143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 txBox="1">
            <a:spLocks noGrp="1"/>
          </p:cNvSpPr>
          <p:nvPr>
            <p:ph type="body" idx="1"/>
          </p:nvPr>
        </p:nvSpPr>
        <p:spPr>
          <a:xfrm>
            <a:off x="685800" y="4482296"/>
            <a:ext cx="5486400" cy="3667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35000" y="1163638"/>
            <a:ext cx="5588000" cy="3143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:notes"/>
          <p:cNvSpPr txBox="1">
            <a:spLocks noGrp="1"/>
          </p:cNvSpPr>
          <p:nvPr>
            <p:ph type="body" idx="1"/>
          </p:nvPr>
        </p:nvSpPr>
        <p:spPr>
          <a:xfrm>
            <a:off x="685800" y="4482296"/>
            <a:ext cx="5486400" cy="3667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35000" y="1163638"/>
            <a:ext cx="5588000" cy="3143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:notes"/>
          <p:cNvSpPr txBox="1">
            <a:spLocks noGrp="1"/>
          </p:cNvSpPr>
          <p:nvPr>
            <p:ph type="body" idx="1"/>
          </p:nvPr>
        </p:nvSpPr>
        <p:spPr>
          <a:xfrm>
            <a:off x="685800" y="4482296"/>
            <a:ext cx="5486400" cy="3667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35000" y="1163638"/>
            <a:ext cx="5588000" cy="3143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:notes"/>
          <p:cNvSpPr txBox="1">
            <a:spLocks noGrp="1"/>
          </p:cNvSpPr>
          <p:nvPr>
            <p:ph type="body" idx="1"/>
          </p:nvPr>
        </p:nvSpPr>
        <p:spPr>
          <a:xfrm>
            <a:off x="685800" y="4482296"/>
            <a:ext cx="5486400" cy="3667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35000" y="1163638"/>
            <a:ext cx="5588000" cy="3143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0:notes"/>
          <p:cNvSpPr txBox="1">
            <a:spLocks noGrp="1"/>
          </p:cNvSpPr>
          <p:nvPr>
            <p:ph type="body" idx="1"/>
          </p:nvPr>
        </p:nvSpPr>
        <p:spPr>
          <a:xfrm>
            <a:off x="685800" y="4482296"/>
            <a:ext cx="5486400" cy="3667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35000" y="1163638"/>
            <a:ext cx="5588000" cy="3143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1:notes"/>
          <p:cNvSpPr txBox="1">
            <a:spLocks noGrp="1"/>
          </p:cNvSpPr>
          <p:nvPr>
            <p:ph type="body" idx="1"/>
          </p:nvPr>
        </p:nvSpPr>
        <p:spPr>
          <a:xfrm>
            <a:off x="685800" y="4482296"/>
            <a:ext cx="5486400" cy="3667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35000" y="1163638"/>
            <a:ext cx="5588000" cy="3143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2:notes"/>
          <p:cNvSpPr txBox="1">
            <a:spLocks noGrp="1"/>
          </p:cNvSpPr>
          <p:nvPr>
            <p:ph type="body" idx="1"/>
          </p:nvPr>
        </p:nvSpPr>
        <p:spPr>
          <a:xfrm>
            <a:off x="685800" y="4482296"/>
            <a:ext cx="5486400" cy="3667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35000" y="1163638"/>
            <a:ext cx="5588000" cy="3143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3:notes"/>
          <p:cNvSpPr txBox="1">
            <a:spLocks noGrp="1"/>
          </p:cNvSpPr>
          <p:nvPr>
            <p:ph type="body" idx="1"/>
          </p:nvPr>
        </p:nvSpPr>
        <p:spPr>
          <a:xfrm>
            <a:off x="685800" y="4482296"/>
            <a:ext cx="5486400" cy="3667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35000" y="1163638"/>
            <a:ext cx="5588000" cy="3143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35000" y="1163638"/>
            <a:ext cx="5588000" cy="3143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4" name="Google Shape;264;p14:notes"/>
          <p:cNvSpPr txBox="1">
            <a:spLocks noGrp="1"/>
          </p:cNvSpPr>
          <p:nvPr>
            <p:ph type="body" idx="1"/>
          </p:nvPr>
        </p:nvSpPr>
        <p:spPr>
          <a:xfrm>
            <a:off x="685800" y="4482296"/>
            <a:ext cx="5486400" cy="3667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35000" y="1163638"/>
            <a:ext cx="5588000" cy="3143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3" name="Google Shape;283;p15:notes"/>
          <p:cNvSpPr txBox="1">
            <a:spLocks noGrp="1"/>
          </p:cNvSpPr>
          <p:nvPr>
            <p:ph type="body" idx="1"/>
          </p:nvPr>
        </p:nvSpPr>
        <p:spPr>
          <a:xfrm>
            <a:off x="685800" y="4482296"/>
            <a:ext cx="5486400" cy="3667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6:notes"/>
          <p:cNvSpPr txBox="1">
            <a:spLocks noGrp="1"/>
          </p:cNvSpPr>
          <p:nvPr>
            <p:ph type="body" idx="1"/>
          </p:nvPr>
        </p:nvSpPr>
        <p:spPr>
          <a:xfrm>
            <a:off x="685800" y="4482296"/>
            <a:ext cx="5486400" cy="3667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35000" y="1163638"/>
            <a:ext cx="5588000" cy="3143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7:notes"/>
          <p:cNvSpPr txBox="1">
            <a:spLocks noGrp="1"/>
          </p:cNvSpPr>
          <p:nvPr>
            <p:ph type="body" idx="1"/>
          </p:nvPr>
        </p:nvSpPr>
        <p:spPr>
          <a:xfrm>
            <a:off x="685800" y="4482296"/>
            <a:ext cx="5486400" cy="3667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35000" y="1163638"/>
            <a:ext cx="5588000" cy="3143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8:notes"/>
          <p:cNvSpPr txBox="1">
            <a:spLocks noGrp="1"/>
          </p:cNvSpPr>
          <p:nvPr>
            <p:ph type="body" idx="1"/>
          </p:nvPr>
        </p:nvSpPr>
        <p:spPr>
          <a:xfrm>
            <a:off x="685800" y="4482296"/>
            <a:ext cx="5486400" cy="3667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35000" y="1163638"/>
            <a:ext cx="5588000" cy="3143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35000" y="1163638"/>
            <a:ext cx="5588000" cy="3143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3" name="Google Shape;323;p19:notes"/>
          <p:cNvSpPr txBox="1">
            <a:spLocks noGrp="1"/>
          </p:cNvSpPr>
          <p:nvPr>
            <p:ph type="body" idx="1"/>
          </p:nvPr>
        </p:nvSpPr>
        <p:spPr>
          <a:xfrm>
            <a:off x="685800" y="4482296"/>
            <a:ext cx="5486400" cy="3667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35000" y="1163638"/>
            <a:ext cx="5588000" cy="3143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2" name="Google Shape;332;p20:notes"/>
          <p:cNvSpPr txBox="1">
            <a:spLocks noGrp="1"/>
          </p:cNvSpPr>
          <p:nvPr>
            <p:ph type="body" idx="1"/>
          </p:nvPr>
        </p:nvSpPr>
        <p:spPr>
          <a:xfrm>
            <a:off x="685800" y="4482296"/>
            <a:ext cx="5486400" cy="3667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1:notes"/>
          <p:cNvSpPr txBox="1">
            <a:spLocks noGrp="1"/>
          </p:cNvSpPr>
          <p:nvPr>
            <p:ph type="body" idx="1"/>
          </p:nvPr>
        </p:nvSpPr>
        <p:spPr>
          <a:xfrm>
            <a:off x="685800" y="4482296"/>
            <a:ext cx="5486400" cy="3667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35000" y="1163638"/>
            <a:ext cx="5588000" cy="3143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2:notes"/>
          <p:cNvSpPr txBox="1">
            <a:spLocks noGrp="1"/>
          </p:cNvSpPr>
          <p:nvPr>
            <p:ph type="body" idx="1"/>
          </p:nvPr>
        </p:nvSpPr>
        <p:spPr>
          <a:xfrm>
            <a:off x="685800" y="4482296"/>
            <a:ext cx="5486400" cy="3667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35000" y="1163638"/>
            <a:ext cx="5588000" cy="3143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35000" y="1163638"/>
            <a:ext cx="5588000" cy="3143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7" name="Google Shape;367;p23:notes"/>
          <p:cNvSpPr txBox="1">
            <a:spLocks noGrp="1"/>
          </p:cNvSpPr>
          <p:nvPr>
            <p:ph type="body" idx="1"/>
          </p:nvPr>
        </p:nvSpPr>
        <p:spPr>
          <a:xfrm>
            <a:off x="685800" y="4482296"/>
            <a:ext cx="5486400" cy="3667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4:notes"/>
          <p:cNvSpPr txBox="1">
            <a:spLocks noGrp="1"/>
          </p:cNvSpPr>
          <p:nvPr>
            <p:ph type="body" idx="1"/>
          </p:nvPr>
        </p:nvSpPr>
        <p:spPr>
          <a:xfrm>
            <a:off x="685800" y="4482296"/>
            <a:ext cx="5486400" cy="3667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35000" y="1163638"/>
            <a:ext cx="5588000" cy="3143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5:notes"/>
          <p:cNvSpPr txBox="1">
            <a:spLocks noGrp="1"/>
          </p:cNvSpPr>
          <p:nvPr>
            <p:ph type="body" idx="1"/>
          </p:nvPr>
        </p:nvSpPr>
        <p:spPr>
          <a:xfrm>
            <a:off x="685800" y="4482296"/>
            <a:ext cx="5486400" cy="3667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35000" y="1163638"/>
            <a:ext cx="5588000" cy="3143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6:notes"/>
          <p:cNvSpPr txBox="1">
            <a:spLocks noGrp="1"/>
          </p:cNvSpPr>
          <p:nvPr>
            <p:ph type="body" idx="1"/>
          </p:nvPr>
        </p:nvSpPr>
        <p:spPr>
          <a:xfrm>
            <a:off x="685800" y="4482296"/>
            <a:ext cx="5486400" cy="3667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35000" y="1163638"/>
            <a:ext cx="5588000" cy="3143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35000" y="1163638"/>
            <a:ext cx="5588000" cy="3143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6" name="Google Shape;416;p27:notes"/>
          <p:cNvSpPr txBox="1">
            <a:spLocks noGrp="1"/>
          </p:cNvSpPr>
          <p:nvPr>
            <p:ph type="body" idx="1"/>
          </p:nvPr>
        </p:nvSpPr>
        <p:spPr>
          <a:xfrm>
            <a:off x="685800" y="4482296"/>
            <a:ext cx="5486400" cy="3667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Arial"/>
              <a:buNone/>
              <a:defRPr sz="45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/>
            </a:lvl3pPr>
            <a:lvl4pPr lvl="3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9pPr>
          </a:lstStyle>
          <a:p>
            <a:endParaRPr/>
          </a:p>
        </p:txBody>
      </p:sp>
      <p:sp>
        <p:nvSpPr>
          <p:cNvPr id="18" name="Google Shape;18;p29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9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9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0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0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5376672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24" name="Google Shape;24;p30"/>
          <p:cNvSpPr txBox="1">
            <a:spLocks noGrp="1"/>
          </p:cNvSpPr>
          <p:nvPr>
            <p:ph type="body" idx="2"/>
          </p:nvPr>
        </p:nvSpPr>
        <p:spPr>
          <a:xfrm>
            <a:off x="6205728" y="1600200"/>
            <a:ext cx="5376672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25" name="Google Shape;25;p30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0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0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31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31" name="Google Shape;31;p31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1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31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2"/>
          <p:cNvSpPr txBox="1"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Arial"/>
              <a:buNone/>
              <a:defRPr sz="45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32"/>
          <p:cNvSpPr txBox="1"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Font typeface="Arial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32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2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2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/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1"/>
            </a:lvl2pPr>
            <a:lvl3pPr marL="1371600" lvl="2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3pPr>
            <a:lvl4pPr marL="1828800" lvl="3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4pPr>
            <a:lvl5pPr marL="2286000" lvl="4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5pPr>
            <a:lvl6pPr marL="2743200" lvl="5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6pPr>
            <a:lvl7pPr marL="3200400" lvl="6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7pPr>
            <a:lvl8pPr marL="3657600" lvl="7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8pPr>
            <a:lvl9pPr marL="4114800" lvl="8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9pPr>
          </a:lstStyle>
          <a:p>
            <a:endParaRPr/>
          </a:p>
        </p:txBody>
      </p:sp>
      <p:sp>
        <p:nvSpPr>
          <p:cNvPr id="43" name="Google Shape;43;p3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44" name="Google Shape;44;p3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/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1"/>
            </a:lvl2pPr>
            <a:lvl3pPr marL="1371600" lvl="2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3pPr>
            <a:lvl4pPr marL="1828800" lvl="3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4pPr>
            <a:lvl5pPr marL="2286000" lvl="4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5pPr>
            <a:lvl6pPr marL="2743200" lvl="5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6pPr>
            <a:lvl7pPr marL="3200400" lvl="6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7pPr>
            <a:lvl8pPr marL="3657600" lvl="7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8pPr>
            <a:lvl9pPr marL="4114800" lvl="8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3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46" name="Google Shape;46;p33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3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3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4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4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4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5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5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5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marL="914400" lvl="1" indent="-36195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sz="21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marL="1828800" lvl="3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/>
            </a:lvl4pPr>
            <a:lvl5pPr marL="2286000" lvl="4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sz="1500"/>
            </a:lvl5pPr>
            <a:lvl6pPr marL="2743200" lvl="5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sz="1500"/>
            </a:lvl6pPr>
            <a:lvl7pPr marL="3200400" lvl="6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sz="1500"/>
            </a:lvl7pPr>
            <a:lvl8pPr marL="3657600" lvl="7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sz="1500"/>
            </a:lvl8pPr>
            <a:lvl9pPr marL="4114800" lvl="8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sz="1500"/>
            </a:lvl9pPr>
          </a:lstStyle>
          <a:p>
            <a:endParaRPr/>
          </a:p>
        </p:txBody>
      </p:sp>
      <p:sp>
        <p:nvSpPr>
          <p:cNvPr id="61" name="Google Shape;61;p3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  <a:defRPr sz="1050"/>
            </a:lvl2pPr>
            <a:lvl3pPr marL="1371600" lvl="2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3pPr>
            <a:lvl4pPr marL="1828800" lvl="3" indent="-22860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4pPr>
            <a:lvl5pPr marL="2286000" lvl="4" indent="-22860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5pPr>
            <a:lvl6pPr marL="2743200" lvl="5" indent="-22860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6pPr>
            <a:lvl7pPr marL="3200400" lvl="6" indent="-22860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7pPr>
            <a:lvl8pPr marL="3657600" lvl="7" indent="-22860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8pPr>
            <a:lvl9pPr marL="4114800" lvl="8" indent="-22860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9pPr>
          </a:lstStyle>
          <a:p>
            <a:endParaRPr/>
          </a:p>
        </p:txBody>
      </p:sp>
      <p:sp>
        <p:nvSpPr>
          <p:cNvPr id="62" name="Google Shape;62;p36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6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6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7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  <a:defRPr sz="1050"/>
            </a:lvl2pPr>
            <a:lvl3pPr marL="1371600" lvl="2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3pPr>
            <a:lvl4pPr marL="1828800" lvl="3" indent="-22860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4pPr>
            <a:lvl5pPr marL="2286000" lvl="4" indent="-22860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5pPr>
            <a:lvl6pPr marL="2743200" lvl="5" indent="-22860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6pPr>
            <a:lvl7pPr marL="3200400" lvl="6" indent="-22860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7pPr>
            <a:lvl8pPr marL="3657600" lvl="7" indent="-22860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8pPr>
            <a:lvl9pPr marL="4114800" lvl="8" indent="-22860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9pPr>
          </a:lstStyle>
          <a:p>
            <a:endParaRPr/>
          </a:p>
        </p:txBody>
      </p:sp>
      <p:sp>
        <p:nvSpPr>
          <p:cNvPr id="69" name="Google Shape;69;p37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7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7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8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8"/>
          <p:cNvSpPr txBox="1">
            <a:spLocks noGrp="1"/>
          </p:cNvSpPr>
          <p:nvPr>
            <p:ph type="body" idx="1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75" name="Google Shape;75;p38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8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8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9"/>
          <p:cNvSpPr txBox="1">
            <a:spLocks noGrp="1"/>
          </p:cNvSpPr>
          <p:nvPr>
            <p:ph type="title"/>
          </p:nvPr>
        </p:nvSpPr>
        <p:spPr>
          <a:xfrm rot="5400000">
            <a:off x="7285038" y="1828801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9"/>
          <p:cNvSpPr txBox="1">
            <a:spLocks noGrp="1"/>
          </p:cNvSpPr>
          <p:nvPr>
            <p:ph type="body" idx="1"/>
          </p:nvPr>
        </p:nvSpPr>
        <p:spPr>
          <a:xfrm rot="5400000">
            <a:off x="1719124" y="-834886"/>
            <a:ext cx="5851525" cy="8070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1" name="Google Shape;81;p39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9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9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8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8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8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28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28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comments" Target="../comments/comment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17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jpg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.png"/><Relationship Id="rId4" Type="http://schemas.openxmlformats.org/officeDocument/2006/relationships/image" Target="../media/image17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800100" y="860425"/>
            <a:ext cx="10591800" cy="1198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200" b="1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EXCEPTION HANDLING</a:t>
            </a:r>
            <a:endParaRPr sz="7200" b="1" i="0" u="none" strike="noStrike" cap="non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" name="Google Shape;89;p1" descr="Aitrich-Logo-Transparent-BG-1536x50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5600" y="6243638"/>
            <a:ext cx="1501775" cy="33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" descr="12291302_Tiny cute children learning codi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73825" y="2778125"/>
            <a:ext cx="5372100" cy="3805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>
            <a:spLocks noGrp="1"/>
          </p:cNvSpPr>
          <p:nvPr>
            <p:ph type="title"/>
          </p:nvPr>
        </p:nvSpPr>
        <p:spPr>
          <a:xfrm>
            <a:off x="579438" y="134938"/>
            <a:ext cx="11002962" cy="12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Bell MT"/>
              <a:buNone/>
            </a:pPr>
            <a:r>
              <a:rPr lang="en-IN" sz="4400">
                <a:solidFill>
                  <a:srgbClr val="002060"/>
                </a:solidFill>
                <a:latin typeface="Bell MT"/>
                <a:ea typeface="Bell MT"/>
                <a:cs typeface="Bell MT"/>
                <a:sym typeface="Bell MT"/>
              </a:rPr>
              <a:t>CONTENTS</a:t>
            </a:r>
            <a:endParaRPr sz="4400">
              <a:solidFill>
                <a:srgbClr val="002060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577850" y="1417638"/>
            <a:ext cx="5905500" cy="4730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E63BD"/>
              </a:buClr>
              <a:buSzPts val="1800"/>
              <a:buFont typeface="Noto Sans Symbols"/>
              <a:buChar char="⮚"/>
            </a:pPr>
            <a:r>
              <a:rPr lang="en-IN" sz="24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What is Exception?</a:t>
            </a:r>
            <a:endParaRPr sz="2400" b="1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30000"/>
              </a:lnSpc>
              <a:spcBef>
                <a:spcPts val="360"/>
              </a:spcBef>
              <a:spcAft>
                <a:spcPts val="0"/>
              </a:spcAft>
              <a:buClr>
                <a:srgbClr val="1E63BD"/>
              </a:buClr>
              <a:buSzPts val="1800"/>
              <a:buFont typeface="Noto Sans Symbols"/>
              <a:buChar char="⮚"/>
            </a:pPr>
            <a:r>
              <a:rPr lang="en-IN" sz="24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Why should we catch exceptions ?</a:t>
            </a:r>
            <a:endParaRPr sz="2400" b="1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30000"/>
              </a:lnSpc>
              <a:spcBef>
                <a:spcPts val="360"/>
              </a:spcBef>
              <a:spcAft>
                <a:spcPts val="0"/>
              </a:spcAft>
              <a:buClr>
                <a:srgbClr val="1E63BD"/>
              </a:buClr>
              <a:buSzPts val="1800"/>
              <a:buFont typeface="Noto Sans Symbols"/>
              <a:buChar char="⮚"/>
            </a:pPr>
            <a:r>
              <a:rPr lang="en-IN" sz="24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'Exception' and 'Error' ?</a:t>
            </a:r>
            <a:endParaRPr sz="2400" b="1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30000"/>
              </a:lnSpc>
              <a:spcBef>
                <a:spcPts val="360"/>
              </a:spcBef>
              <a:spcAft>
                <a:spcPts val="0"/>
              </a:spcAft>
              <a:buClr>
                <a:srgbClr val="1E63BD"/>
              </a:buClr>
              <a:buSzPts val="1800"/>
              <a:buFont typeface="Noto Sans Symbols"/>
              <a:buChar char="⮚"/>
            </a:pPr>
            <a:r>
              <a:rPr lang="en-IN" sz="24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The different kinds of exceptions</a:t>
            </a:r>
            <a:endParaRPr sz="2400" b="1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30000"/>
              </a:lnSpc>
              <a:spcBef>
                <a:spcPts val="360"/>
              </a:spcBef>
              <a:spcAft>
                <a:spcPts val="0"/>
              </a:spcAft>
              <a:buClr>
                <a:srgbClr val="1E63BD"/>
              </a:buClr>
              <a:buSzPts val="1800"/>
              <a:buFont typeface="Noto Sans Symbols"/>
              <a:buChar char="⮚"/>
            </a:pPr>
            <a:r>
              <a:rPr lang="en-IN" sz="24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Namespace</a:t>
            </a:r>
            <a:endParaRPr sz="2400" b="1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30000"/>
              </a:lnSpc>
              <a:spcBef>
                <a:spcPts val="360"/>
              </a:spcBef>
              <a:spcAft>
                <a:spcPts val="0"/>
              </a:spcAft>
              <a:buClr>
                <a:srgbClr val="1E63BD"/>
              </a:buClr>
              <a:buSzPts val="1800"/>
              <a:buFont typeface="Noto Sans Symbols"/>
              <a:buChar char="⮚"/>
            </a:pPr>
            <a:r>
              <a:rPr lang="en-IN" sz="24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Some System/Runtime Exceptions</a:t>
            </a:r>
            <a:endParaRPr sz="2400" b="1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30000"/>
              </a:lnSpc>
              <a:spcBef>
                <a:spcPts val="360"/>
              </a:spcBef>
              <a:spcAft>
                <a:spcPts val="0"/>
              </a:spcAft>
              <a:buClr>
                <a:srgbClr val="1E63BD"/>
              </a:buClr>
              <a:buSzPts val="1800"/>
              <a:buFont typeface="Noto Sans Symbols"/>
              <a:buChar char="⮚"/>
            </a:pPr>
            <a:r>
              <a:rPr lang="en-IN" sz="24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What is Exception Handling?</a:t>
            </a:r>
            <a:endParaRPr sz="2400" b="1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30000"/>
              </a:lnSpc>
              <a:spcBef>
                <a:spcPts val="360"/>
              </a:spcBef>
              <a:spcAft>
                <a:spcPts val="0"/>
              </a:spcAft>
              <a:buClr>
                <a:srgbClr val="1E63BD"/>
              </a:buClr>
              <a:buSzPts val="1800"/>
              <a:buFont typeface="Noto Sans Symbols"/>
              <a:buChar char="⮚"/>
            </a:pPr>
            <a:r>
              <a:rPr lang="en-IN" sz="24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Structured Exception Handling</a:t>
            </a:r>
            <a:endParaRPr sz="2400" b="1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E63BD"/>
              </a:buClr>
              <a:buSzPts val="2400"/>
              <a:buFont typeface="Noto Sans Symbols"/>
              <a:buNone/>
            </a:pPr>
            <a:endParaRPr sz="2400" b="1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" name="Google Shape;97;p2" descr="Aitrich-Logo-Transparent-BG-1536x504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406400" y="6205538"/>
            <a:ext cx="1870075" cy="37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2" descr="5461362_2808343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6483350" y="1196975"/>
            <a:ext cx="4927600" cy="469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Bell MT"/>
              <a:buNone/>
            </a:pPr>
            <a:r>
              <a:rPr lang="en-IN" sz="4400">
                <a:solidFill>
                  <a:srgbClr val="002060"/>
                </a:solidFill>
                <a:latin typeface="Bell MT"/>
                <a:ea typeface="Bell MT"/>
                <a:cs typeface="Bell MT"/>
                <a:sym typeface="Bell MT"/>
              </a:rPr>
              <a:t>CONTENTS</a:t>
            </a:r>
            <a:endParaRPr sz="4400">
              <a:solidFill>
                <a:srgbClr val="002060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104" name="Google Shape;104;p3" descr="Aitrich-Logo-Transparent-BG-1536x504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406400" y="6205538"/>
            <a:ext cx="1870075" cy="37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3" descr="5461362_280834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73875" y="1428750"/>
            <a:ext cx="4929188" cy="4929188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3"/>
          <p:cNvSpPr txBox="1"/>
          <p:nvPr/>
        </p:nvSpPr>
        <p:spPr>
          <a:xfrm>
            <a:off x="609600" y="1417638"/>
            <a:ext cx="5454600" cy="306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E63BD"/>
              </a:buClr>
              <a:buSzPts val="1800"/>
              <a:buFont typeface="Noto Sans Symbols"/>
              <a:buChar char="⮚"/>
            </a:pPr>
            <a:r>
              <a:rPr lang="en-IN" sz="24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try/catch Blocks</a:t>
            </a:r>
            <a:endParaRPr sz="2400" b="1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30000"/>
              </a:lnSpc>
              <a:spcBef>
                <a:spcPts val="360"/>
              </a:spcBef>
              <a:spcAft>
                <a:spcPts val="0"/>
              </a:spcAft>
              <a:buClr>
                <a:srgbClr val="1E63BD"/>
              </a:buClr>
              <a:buSzPts val="1800"/>
              <a:buFont typeface="Noto Sans Symbols"/>
              <a:buChar char="⮚"/>
            </a:pPr>
            <a:r>
              <a:rPr lang="en-IN" sz="24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Multiple Catch Blocks</a:t>
            </a:r>
            <a:endParaRPr sz="2400" b="1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Clr>
                <a:srgbClr val="1E63BD"/>
              </a:buClr>
              <a:buSzPts val="1800"/>
              <a:buFont typeface="Noto Sans Symbols"/>
              <a:buChar char="⮚"/>
            </a:pPr>
            <a:r>
              <a:rPr lang="en-IN" sz="24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Finally Blocks</a:t>
            </a:r>
            <a:endParaRPr sz="2400" b="1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rgbClr val="1E63BD"/>
              </a:buClr>
              <a:buSzPts val="2000"/>
              <a:buFont typeface="Noto Sans Symbols"/>
              <a:buChar char="⮚"/>
            </a:pPr>
            <a:r>
              <a:rPr lang="en-IN" sz="24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Application Exception</a:t>
            </a:r>
            <a:endParaRPr sz="2400" b="1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rgbClr val="1E63BD"/>
              </a:buClr>
              <a:buSzPts val="2000"/>
              <a:buFont typeface="Noto Sans Symbols"/>
              <a:buChar char="⮚"/>
            </a:pPr>
            <a:r>
              <a:rPr lang="en-IN" sz="24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Defensive Programming</a:t>
            </a:r>
            <a:endParaRPr sz="2400" b="1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rgbClr val="1E63BD"/>
              </a:buClr>
              <a:buSzPts val="2000"/>
              <a:buFont typeface="Noto Sans Symbols"/>
              <a:buChar char="⮚"/>
            </a:pPr>
            <a:r>
              <a:rPr lang="en-IN" sz="24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Best Practices for Handling Exceptions</a:t>
            </a:r>
            <a:endParaRPr sz="2400" b="1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1125200" cy="1085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None/>
            </a:pPr>
            <a:r>
              <a:rPr lang="en-IN" sz="44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What Is Exception???</a:t>
            </a:r>
            <a:endParaRPr sz="4400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2" name="Google Shape;112;p4" descr="13330330_Feb-Business_9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15325" y="1903413"/>
            <a:ext cx="3760788" cy="3487737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4"/>
          <p:cNvSpPr/>
          <p:nvPr/>
        </p:nvSpPr>
        <p:spPr>
          <a:xfrm>
            <a:off x="628650" y="1992313"/>
            <a:ext cx="7305675" cy="719137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12700" cap="flat" cmpd="sng">
            <a:solidFill>
              <a:srgbClr val="5B84A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4"/>
          <p:cNvSpPr txBox="1"/>
          <p:nvPr/>
        </p:nvSpPr>
        <p:spPr>
          <a:xfrm>
            <a:off x="628650" y="2120900"/>
            <a:ext cx="7197725" cy="430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Exception is an event during the execution of the program</a:t>
            </a:r>
            <a:endParaRPr sz="2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630238" y="4570413"/>
            <a:ext cx="7304087" cy="989012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12700" cap="flat" cmpd="sng">
            <a:solidFill>
              <a:srgbClr val="5B84A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4"/>
          <p:cNvSpPr txBox="1"/>
          <p:nvPr/>
        </p:nvSpPr>
        <p:spPr>
          <a:xfrm>
            <a:off x="714375" y="4694238"/>
            <a:ext cx="7026275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 exception is an unexpected state during the execution of code</a:t>
            </a:r>
            <a:r>
              <a:rPr lang="en-IN" sz="2000" b="0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000" b="0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" name="Google Shape;117;p4" descr="Aitrich-Logo-Transparent-BG-1536x50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6063" y="6400800"/>
            <a:ext cx="1482725" cy="37782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4"/>
          <p:cNvSpPr txBox="1"/>
          <p:nvPr/>
        </p:nvSpPr>
        <p:spPr>
          <a:xfrm>
            <a:off x="369888" y="3224213"/>
            <a:ext cx="7688262" cy="1198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It disrupts the normal flow of instructions during the execution of a program.</a:t>
            </a:r>
            <a:r>
              <a:rPr lang="en-IN" sz="24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400" b="0" i="0" u="none" strike="noStrike" cap="non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4"/>
          <p:cNvSpPr txBox="1"/>
          <p:nvPr/>
        </p:nvSpPr>
        <p:spPr>
          <a:xfrm>
            <a:off x="369888" y="3224213"/>
            <a:ext cx="7712075" cy="1198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It disrupts the normal flow of instructions during the execution of a program.</a:t>
            </a:r>
            <a:r>
              <a:rPr lang="en-IN" sz="24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400" b="0" i="0" u="none" strike="noStrike" cap="non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628650" y="3013075"/>
            <a:ext cx="7305675" cy="1219200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12700" cap="flat" cmpd="sng">
            <a:solidFill>
              <a:srgbClr val="5B84A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4"/>
          <p:cNvSpPr txBox="1"/>
          <p:nvPr/>
        </p:nvSpPr>
        <p:spPr>
          <a:xfrm>
            <a:off x="733425" y="3224213"/>
            <a:ext cx="7200900" cy="1106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It disrupts the normal flow of instructions during the execution of a program.</a:t>
            </a:r>
            <a:r>
              <a:rPr lang="en-IN" sz="2200" b="0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200" b="0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Bell MT"/>
              <a:buNone/>
            </a:pPr>
            <a:r>
              <a:rPr lang="en-IN" sz="4400">
                <a:solidFill>
                  <a:srgbClr val="002060"/>
                </a:solidFill>
                <a:latin typeface="Bell MT"/>
                <a:ea typeface="Bell MT"/>
                <a:cs typeface="Bell MT"/>
                <a:sym typeface="Bell MT"/>
              </a:rPr>
              <a:t>Why should we catch exceptions </a:t>
            </a:r>
            <a:endParaRPr sz="4400">
              <a:solidFill>
                <a:srgbClr val="002060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27" name="Google Shape;127;p5"/>
          <p:cNvSpPr txBox="1"/>
          <p:nvPr/>
        </p:nvSpPr>
        <p:spPr>
          <a:xfrm>
            <a:off x="438150" y="1417638"/>
            <a:ext cx="11772900" cy="5492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Noto Sans Symbols"/>
              <a:buChar char="⮚"/>
            </a:pPr>
            <a:r>
              <a:rPr lang="en-IN" sz="24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To make your program robust and reliable. </a:t>
            </a:r>
            <a:endParaRPr sz="2400" b="1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Noto Sans Symbols"/>
              <a:buChar char="⮚"/>
            </a:pPr>
            <a:r>
              <a:rPr lang="en-IN" sz="24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And it is vital for ensuring the quality of your code .</a:t>
            </a:r>
            <a:endParaRPr sz="2400" b="1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Noto Sans Symbols"/>
              <a:buChar char="⮚"/>
            </a:pPr>
            <a:r>
              <a:rPr lang="en-IN" sz="24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A good programmer is someone who never introduce bad code in his projects</a:t>
            </a:r>
            <a:endParaRPr sz="2400" b="1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Noto Sans Symbols"/>
              <a:buChar char="⮚"/>
            </a:pPr>
            <a:r>
              <a:rPr lang="en-IN" sz="24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If an exception is not 'handled' in code</a:t>
            </a:r>
            <a:endParaRPr sz="2400" b="1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60000"/>
              </a:lnSpc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Noto Sans Symbols"/>
              <a:buNone/>
            </a:pPr>
            <a:r>
              <a:rPr lang="en-IN" sz="24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	The application will crash and user will see an ugly message. </a:t>
            </a:r>
            <a:endParaRPr sz="2400" b="1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60000"/>
              </a:lnSpc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Noto Sans Symbols"/>
              <a:buNone/>
            </a:pPr>
            <a:r>
              <a:rPr lang="en-IN" sz="24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	Instead, you can catch the exception, log the errors and show a friendly 		message to the user.</a:t>
            </a:r>
            <a:endParaRPr sz="2400" b="1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1905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Noto Sans Symbols"/>
              <a:buNone/>
            </a:pPr>
            <a:endParaRPr sz="2400" b="1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E63BD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8" name="Google Shape;128;p5" descr="SL-032722-49310-19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0026650" y="1206500"/>
            <a:ext cx="1828800" cy="156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5" descr="Aitrich-Logo-Transparent-BG-1536x50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6063" y="6400800"/>
            <a:ext cx="1482725" cy="37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6" descr="Capture1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3976688" y="1436688"/>
            <a:ext cx="6462712" cy="39862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6"/>
          <p:cNvSpPr/>
          <p:nvPr/>
        </p:nvSpPr>
        <p:spPr>
          <a:xfrm>
            <a:off x="708025" y="2006600"/>
            <a:ext cx="3140075" cy="1916113"/>
          </a:xfrm>
          <a:prstGeom prst="rightArrow">
            <a:avLst>
              <a:gd name="adj1" fmla="val 50000"/>
              <a:gd name="adj2" fmla="val 50028"/>
            </a:avLst>
          </a:prstGeom>
          <a:solidFill>
            <a:srgbClr val="002060"/>
          </a:solidFill>
          <a:ln w="12700" cap="flat" cmpd="sng">
            <a:solidFill>
              <a:srgbClr val="5B84A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727075" y="2025650"/>
            <a:ext cx="3140075" cy="1916113"/>
          </a:xfrm>
          <a:prstGeom prst="rightArrow">
            <a:avLst>
              <a:gd name="adj1" fmla="val 50000"/>
              <a:gd name="adj2" fmla="val 50028"/>
            </a:avLst>
          </a:prstGeom>
          <a:solidFill>
            <a:srgbClr val="002060"/>
          </a:solidFill>
          <a:ln w="12700" cap="flat" cmpd="sng">
            <a:solidFill>
              <a:srgbClr val="5B84A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6"/>
          <p:cNvSpPr txBox="1"/>
          <p:nvPr/>
        </p:nvSpPr>
        <p:spPr>
          <a:xfrm>
            <a:off x="415925" y="247650"/>
            <a:ext cx="3260725" cy="522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 i="0" u="none" strike="noStrike" cap="none">
                <a:solidFill>
                  <a:srgbClr val="000000"/>
                </a:solidFill>
                <a:latin typeface="Bell MT"/>
                <a:ea typeface="Bell MT"/>
                <a:cs typeface="Bell MT"/>
                <a:sym typeface="Bell MT"/>
              </a:rPr>
              <a:t>Example:</a:t>
            </a:r>
            <a:endParaRPr sz="2800" b="1" i="0" u="none" strike="noStrike" cap="none">
              <a:solidFill>
                <a:srgbClr val="000000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138" name="Google Shape;138;p6" descr="Aitrich-Logo-Transparent-BG-1536x50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6063" y="6400800"/>
            <a:ext cx="1482725" cy="37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None/>
            </a:pPr>
            <a:r>
              <a:rPr lang="en-IN" sz="4400">
                <a:latin typeface="Arial"/>
                <a:ea typeface="Arial"/>
                <a:cs typeface="Arial"/>
                <a:sym typeface="Arial"/>
              </a:rPr>
              <a:t> </a:t>
            </a:r>
            <a:br>
              <a:rPr lang="en-IN" sz="4400">
                <a:latin typeface="Arial"/>
                <a:ea typeface="Arial"/>
                <a:cs typeface="Arial"/>
                <a:sym typeface="Arial"/>
              </a:rPr>
            </a:br>
            <a:endParaRPr sz="4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349250" y="682625"/>
            <a:ext cx="114935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IN" sz="24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 sz="4400" b="0" i="0" u="none" strike="noStrike" cap="none">
                <a:solidFill>
                  <a:srgbClr val="002060"/>
                </a:solidFill>
                <a:latin typeface="Bell MT"/>
                <a:ea typeface="Bell MT"/>
                <a:cs typeface="Bell MT"/>
                <a:sym typeface="Bell MT"/>
              </a:rPr>
              <a:t>Exception and Error?</a:t>
            </a:r>
            <a:endParaRPr sz="2400" b="0" i="0" u="none" strike="noStrike" cap="none">
              <a:solidFill>
                <a:srgbClr val="000000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145" name="Google Shape;145;p7" descr="11235900_11083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91525" y="2139950"/>
            <a:ext cx="3676650" cy="35829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7"/>
          <p:cNvSpPr/>
          <p:nvPr/>
        </p:nvSpPr>
        <p:spPr>
          <a:xfrm>
            <a:off x="725488" y="3233738"/>
            <a:ext cx="7659687" cy="1306512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12700" cap="flat" cmpd="sng">
            <a:solidFill>
              <a:srgbClr val="5B84A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7"/>
          <p:cNvSpPr txBox="1"/>
          <p:nvPr/>
        </p:nvSpPr>
        <p:spPr>
          <a:xfrm>
            <a:off x="854075" y="3332163"/>
            <a:ext cx="7413625" cy="1198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When an error interrupts the flow, the program tries to find an exception handler </a:t>
            </a:r>
            <a:endParaRPr sz="2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673100" y="4654550"/>
            <a:ext cx="7712075" cy="1187450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12700" cap="flat" cmpd="sng">
            <a:solidFill>
              <a:srgbClr val="5B84A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7"/>
          <p:cNvSpPr txBox="1"/>
          <p:nvPr/>
        </p:nvSpPr>
        <p:spPr>
          <a:xfrm>
            <a:off x="854075" y="4749800"/>
            <a:ext cx="7413625" cy="1198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block of code that tells it how to react,Which will help it resume the flow.</a:t>
            </a:r>
            <a:r>
              <a:rPr lang="en-IN" sz="2400" b="1" i="1" u="sng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741363" y="2047875"/>
            <a:ext cx="7650162" cy="1071563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12700" cap="flat" cmpd="sng">
            <a:solidFill>
              <a:srgbClr val="5B84A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7"/>
          <p:cNvSpPr txBox="1"/>
          <p:nvPr/>
        </p:nvSpPr>
        <p:spPr>
          <a:xfrm>
            <a:off x="860425" y="2192338"/>
            <a:ext cx="7412038" cy="1198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 error is the event; an exception is the object that event creates.</a:t>
            </a:r>
            <a:endParaRPr sz="2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p7" descr="Aitrich-Logo-Transparent-BG-1536x50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0988" y="6356350"/>
            <a:ext cx="1482725" cy="37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8" descr="Exception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7620000" y="1847850"/>
            <a:ext cx="3962400" cy="368617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8"/>
          <p:cNvSpPr txBox="1"/>
          <p:nvPr/>
        </p:nvSpPr>
        <p:spPr>
          <a:xfrm>
            <a:off x="657225" y="407988"/>
            <a:ext cx="10514013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 b="0" i="0" u="none" strike="noStrike" cap="none">
                <a:solidFill>
                  <a:srgbClr val="002060"/>
                </a:solidFill>
                <a:latin typeface="Bell MT"/>
                <a:ea typeface="Bell MT"/>
                <a:cs typeface="Bell MT"/>
                <a:sym typeface="Bell MT"/>
              </a:rPr>
              <a:t>TYPES OF EXCEPTION</a:t>
            </a:r>
            <a:endParaRPr sz="4400" b="0" i="0" u="none" strike="noStrike" cap="none">
              <a:solidFill>
                <a:srgbClr val="002060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488950" y="1387475"/>
            <a:ext cx="4057650" cy="1085850"/>
          </a:xfrm>
          <a:prstGeom prst="rightArrow">
            <a:avLst>
              <a:gd name="adj1" fmla="val 50000"/>
              <a:gd name="adj2" fmla="val 49963"/>
            </a:avLst>
          </a:prstGeom>
          <a:solidFill>
            <a:srgbClr val="002060"/>
          </a:solidFill>
          <a:ln w="12700" cap="flat" cmpd="sng">
            <a:solidFill>
              <a:srgbClr val="5B84A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8"/>
          <p:cNvSpPr txBox="1"/>
          <p:nvPr/>
        </p:nvSpPr>
        <p:spPr>
          <a:xfrm>
            <a:off x="657225" y="1730375"/>
            <a:ext cx="2963863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SYSTEM EXCEPTION</a:t>
            </a:r>
            <a:endParaRPr sz="2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488950" y="3990975"/>
            <a:ext cx="4057650" cy="1085850"/>
          </a:xfrm>
          <a:prstGeom prst="rightArrow">
            <a:avLst>
              <a:gd name="adj1" fmla="val 50000"/>
              <a:gd name="adj2" fmla="val 49963"/>
            </a:avLst>
          </a:prstGeom>
          <a:solidFill>
            <a:srgbClr val="002060"/>
          </a:solidFill>
          <a:ln w="12700" cap="flat" cmpd="sng">
            <a:solidFill>
              <a:srgbClr val="5B84A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8"/>
          <p:cNvSpPr txBox="1"/>
          <p:nvPr/>
        </p:nvSpPr>
        <p:spPr>
          <a:xfrm>
            <a:off x="657225" y="4360863"/>
            <a:ext cx="3441700" cy="39846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APPLICATION EXCEPTION</a:t>
            </a:r>
            <a:endParaRPr sz="2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8"/>
          <p:cNvSpPr txBox="1"/>
          <p:nvPr/>
        </p:nvSpPr>
        <p:spPr>
          <a:xfrm>
            <a:off x="931863" y="5534025"/>
            <a:ext cx="672147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lang="en-IN" sz="20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Thrown By Application,using “throw” Clause</a:t>
            </a:r>
            <a:endParaRPr sz="2000" b="0" i="0" u="none" strike="noStrike" cap="non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8"/>
          <p:cNvSpPr txBox="1"/>
          <p:nvPr/>
        </p:nvSpPr>
        <p:spPr>
          <a:xfrm>
            <a:off x="1479550" y="2879725"/>
            <a:ext cx="6265863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	Thrown by the CLR at run time</a:t>
            </a:r>
            <a:endParaRPr sz="2000" b="0" i="0" u="none" strike="noStrike" cap="non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5" name="Google Shape;165;p8" descr="Aitrich-Logo-Transparent-BG-1536x50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0988" y="6356350"/>
            <a:ext cx="1482725" cy="37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Bell MT"/>
              <a:buNone/>
            </a:pPr>
            <a:r>
              <a:rPr lang="en-IN" sz="4400">
                <a:solidFill>
                  <a:srgbClr val="002060"/>
                </a:solidFill>
                <a:latin typeface="Bell MT"/>
                <a:ea typeface="Bell MT"/>
                <a:cs typeface="Bell MT"/>
                <a:sym typeface="Bell MT"/>
              </a:rPr>
              <a:t>Namespace</a:t>
            </a:r>
            <a:endParaRPr sz="4400">
              <a:solidFill>
                <a:srgbClr val="002060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171" name="Google Shape;171;p9" descr="C:\Users\Owner\Desktop\image088.gif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6616700" y="1719263"/>
            <a:ext cx="4562475" cy="341947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9"/>
          <p:cNvSpPr/>
          <p:nvPr/>
        </p:nvSpPr>
        <p:spPr>
          <a:xfrm>
            <a:off x="609600" y="2803525"/>
            <a:ext cx="4594225" cy="1493838"/>
          </a:xfrm>
          <a:prstGeom prst="round1Rect">
            <a:avLst>
              <a:gd name="adj" fmla="val 16667"/>
            </a:avLst>
          </a:prstGeom>
          <a:solidFill>
            <a:srgbClr val="002060"/>
          </a:solidFill>
          <a:ln w="12700" cap="flat" cmpd="sng">
            <a:solidFill>
              <a:srgbClr val="5B84A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9"/>
          <p:cNvSpPr txBox="1"/>
          <p:nvPr/>
        </p:nvSpPr>
        <p:spPr>
          <a:xfrm>
            <a:off x="769938" y="3060700"/>
            <a:ext cx="4267200" cy="1106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System.Exception is the base class for all exceptions in C#.</a:t>
            </a:r>
            <a:endParaRPr sz="2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4" name="Google Shape;174;p9" descr="Aitrich-Logo-Transparent-BG-1536x50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0988" y="6356350"/>
            <a:ext cx="1482725" cy="37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0"/>
          <p:cNvSpPr/>
          <p:nvPr/>
        </p:nvSpPr>
        <p:spPr>
          <a:xfrm>
            <a:off x="912813" y="4143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System/Runtime Exceptions</a:t>
            </a:r>
            <a:endParaRPr sz="4400" b="0" i="0" u="none" strike="noStrike" cap="non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0" name="Google Shape;180;p10" descr="Capture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9950" y="1557338"/>
            <a:ext cx="5037138" cy="841375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0"/>
          <p:cNvSpPr txBox="1"/>
          <p:nvPr/>
        </p:nvSpPr>
        <p:spPr>
          <a:xfrm>
            <a:off x="1333500" y="1749425"/>
            <a:ext cx="4040188" cy="83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N" sz="24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OutOfMemoryException</a:t>
            </a:r>
            <a:endParaRPr sz="2400" b="0" i="0" u="none" strike="noStrike" cap="non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2" name="Google Shape;182;p10" descr="Capture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26188" y="1557338"/>
            <a:ext cx="4981575" cy="87947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0"/>
          <p:cNvSpPr txBox="1"/>
          <p:nvPr/>
        </p:nvSpPr>
        <p:spPr>
          <a:xfrm>
            <a:off x="6640513" y="1746250"/>
            <a:ext cx="3700462" cy="1179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IndexOutOfRangeException</a:t>
            </a:r>
            <a:endParaRPr sz="1800" b="0" i="0" u="none" strike="noStrike" cap="none">
              <a:solidFill>
                <a:srgbClr val="FFFFFF"/>
              </a:solidFill>
              <a:latin typeface="Aparajita"/>
              <a:ea typeface="Aparajita"/>
              <a:cs typeface="Aparajita"/>
              <a:sym typeface="Aparajit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Aparajita"/>
              <a:ea typeface="Aparajita"/>
              <a:cs typeface="Aparajita"/>
              <a:sym typeface="Aparajita"/>
            </a:endParaRPr>
          </a:p>
        </p:txBody>
      </p:sp>
      <p:pic>
        <p:nvPicPr>
          <p:cNvPr id="184" name="Google Shape;184;p10" descr="Capture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3600" y="2555875"/>
            <a:ext cx="4981575" cy="87947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0"/>
          <p:cNvSpPr txBox="1"/>
          <p:nvPr/>
        </p:nvSpPr>
        <p:spPr>
          <a:xfrm>
            <a:off x="1379538" y="2797175"/>
            <a:ext cx="3768725" cy="866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N" sz="24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NullReferenceException</a:t>
            </a:r>
            <a:endParaRPr sz="2400" b="0" i="0" u="none" strike="noStrike" cap="none">
              <a:solidFill>
                <a:schemeClr val="accent3"/>
              </a:solidFill>
              <a:latin typeface="Aparajita"/>
              <a:ea typeface="Aparajita"/>
              <a:cs typeface="Aparajita"/>
              <a:sym typeface="Aparajit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accent3"/>
              </a:solidFill>
              <a:latin typeface="Aparajita"/>
              <a:ea typeface="Aparajita"/>
              <a:cs typeface="Aparajita"/>
              <a:sym typeface="Aparajita"/>
            </a:endParaRPr>
          </a:p>
        </p:txBody>
      </p:sp>
      <p:pic>
        <p:nvPicPr>
          <p:cNvPr id="186" name="Google Shape;186;p10" descr="Capture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48413" y="2590800"/>
            <a:ext cx="4981575" cy="87947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0"/>
          <p:cNvSpPr txBox="1"/>
          <p:nvPr/>
        </p:nvSpPr>
        <p:spPr>
          <a:xfrm>
            <a:off x="6642100" y="2798763"/>
            <a:ext cx="3905250" cy="46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N" sz="2400" b="0" i="0" u="none" strike="noStrike" cap="none">
                <a:solidFill>
                  <a:schemeClr val="accent3"/>
                </a:solidFill>
                <a:latin typeface="Aparajita"/>
                <a:ea typeface="Aparajita"/>
                <a:cs typeface="Aparajita"/>
                <a:sym typeface="Aparajita"/>
              </a:rPr>
              <a:t>Arithmetic Exception</a:t>
            </a:r>
            <a:endParaRPr sz="2400" b="0" i="0" u="none" strike="noStrike" cap="none">
              <a:solidFill>
                <a:schemeClr val="accent3"/>
              </a:solidFill>
              <a:latin typeface="Aparajita"/>
              <a:ea typeface="Aparajita"/>
              <a:cs typeface="Aparajita"/>
              <a:sym typeface="Aparajita"/>
            </a:endParaRPr>
          </a:p>
        </p:txBody>
      </p:sp>
      <p:pic>
        <p:nvPicPr>
          <p:cNvPr id="188" name="Google Shape;188;p10" descr="Capture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2813" y="3584575"/>
            <a:ext cx="4979987" cy="879475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0"/>
          <p:cNvSpPr txBox="1"/>
          <p:nvPr/>
        </p:nvSpPr>
        <p:spPr>
          <a:xfrm>
            <a:off x="1279525" y="3768725"/>
            <a:ext cx="4016375" cy="866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N" sz="2400" b="0" i="0" u="none" strike="noStrike" cap="none">
                <a:solidFill>
                  <a:schemeClr val="accent3"/>
                </a:solidFill>
                <a:latin typeface="Aparajita"/>
                <a:ea typeface="Aparajita"/>
                <a:cs typeface="Aparajita"/>
                <a:sym typeface="Aparajita"/>
              </a:rPr>
              <a:t>InvalidCastException</a:t>
            </a:r>
            <a:endParaRPr sz="2400" b="0" i="0" u="none" strike="noStrike" cap="none">
              <a:solidFill>
                <a:schemeClr val="accent3"/>
              </a:solidFill>
              <a:latin typeface="Aparajita"/>
              <a:ea typeface="Aparajita"/>
              <a:cs typeface="Aparajita"/>
              <a:sym typeface="Aparajit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accent3"/>
              </a:solidFill>
              <a:latin typeface="Aparajita"/>
              <a:ea typeface="Aparajita"/>
              <a:cs typeface="Aparajita"/>
              <a:sym typeface="Aparajita"/>
            </a:endParaRPr>
          </a:p>
        </p:txBody>
      </p:sp>
      <p:pic>
        <p:nvPicPr>
          <p:cNvPr id="190" name="Google Shape;190;p10" descr="Capture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48413" y="3584575"/>
            <a:ext cx="4981575" cy="87947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0"/>
          <p:cNvSpPr txBox="1"/>
          <p:nvPr/>
        </p:nvSpPr>
        <p:spPr>
          <a:xfrm>
            <a:off x="6627813" y="3797300"/>
            <a:ext cx="4038600" cy="46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N" sz="2400" b="0" i="0" u="none" strike="noStrike" cap="none">
                <a:solidFill>
                  <a:schemeClr val="accent3"/>
                </a:solidFill>
                <a:latin typeface="Aparajita"/>
                <a:ea typeface="Aparajita"/>
                <a:cs typeface="Aparajita"/>
                <a:sym typeface="Aparajita"/>
              </a:rPr>
              <a:t>OverFlowException</a:t>
            </a:r>
            <a:r>
              <a:rPr lang="en-IN" sz="2400" b="0" i="0" u="none" strike="noStrike" cap="none">
                <a:solidFill>
                  <a:schemeClr val="dk1"/>
                </a:solidFill>
                <a:latin typeface="Aparajita"/>
                <a:ea typeface="Aparajita"/>
                <a:cs typeface="Aparajita"/>
                <a:sym typeface="Aparajita"/>
              </a:rPr>
              <a:t> 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p10" descr="Capture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27100" y="4721225"/>
            <a:ext cx="4979988" cy="879475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0"/>
          <p:cNvSpPr txBox="1"/>
          <p:nvPr/>
        </p:nvSpPr>
        <p:spPr>
          <a:xfrm>
            <a:off x="1292225" y="4875213"/>
            <a:ext cx="4425950" cy="7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N" sz="2400" b="0" i="0" u="none" strike="noStrike" cap="none">
                <a:solidFill>
                  <a:schemeClr val="accent3"/>
                </a:solidFill>
                <a:latin typeface="Aparajita"/>
                <a:ea typeface="Aparajita"/>
                <a:cs typeface="Aparajita"/>
                <a:sym typeface="Aparajita"/>
              </a:rPr>
              <a:t>ArrayTypeMismatchException</a:t>
            </a:r>
            <a:endParaRPr sz="1800" b="0" i="0" u="none" strike="noStrike" cap="none">
              <a:solidFill>
                <a:schemeClr val="accent3"/>
              </a:solidFill>
              <a:latin typeface="Aparajita"/>
              <a:ea typeface="Aparajita"/>
              <a:cs typeface="Aparajita"/>
              <a:sym typeface="Aparajit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accent3"/>
              </a:solidFill>
              <a:latin typeface="Aparajita"/>
              <a:ea typeface="Aparajita"/>
              <a:cs typeface="Aparajita"/>
              <a:sym typeface="Aparajita"/>
            </a:endParaRPr>
          </a:p>
        </p:txBody>
      </p:sp>
      <p:pic>
        <p:nvPicPr>
          <p:cNvPr id="194" name="Google Shape;194;p10" descr="Capture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4668838"/>
            <a:ext cx="4981575" cy="879475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0"/>
          <p:cNvSpPr txBox="1"/>
          <p:nvPr/>
        </p:nvSpPr>
        <p:spPr>
          <a:xfrm>
            <a:off x="6626225" y="4910138"/>
            <a:ext cx="4040188" cy="830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N" sz="24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DivideByZeroException</a:t>
            </a:r>
            <a:endParaRPr sz="2400" b="0" i="0" u="none" strike="noStrike" cap="non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6" name="Google Shape;196;p10" descr="Capture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5663" y="1571625"/>
            <a:ext cx="5037137" cy="841375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0"/>
          <p:cNvSpPr txBox="1"/>
          <p:nvPr/>
        </p:nvSpPr>
        <p:spPr>
          <a:xfrm>
            <a:off x="1319213" y="1765300"/>
            <a:ext cx="4040187" cy="828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N" sz="24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OutOfMemoryException</a:t>
            </a:r>
            <a:endParaRPr sz="2400" b="0" i="0" u="none" strike="noStrike" cap="non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8" name="Google Shape;198;p10" descr="Capture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11900" y="1571625"/>
            <a:ext cx="4981575" cy="879475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0"/>
          <p:cNvSpPr txBox="1"/>
          <p:nvPr/>
        </p:nvSpPr>
        <p:spPr>
          <a:xfrm>
            <a:off x="6626225" y="1760538"/>
            <a:ext cx="3702050" cy="1179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IndexOutOfRangeException</a:t>
            </a:r>
            <a:endParaRPr sz="1800" b="0" i="0" u="none" strike="noStrike" cap="none">
              <a:solidFill>
                <a:srgbClr val="FFFFFF"/>
              </a:solidFill>
              <a:latin typeface="Aparajita"/>
              <a:ea typeface="Aparajita"/>
              <a:cs typeface="Aparajita"/>
              <a:sym typeface="Aparajit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Aparajita"/>
              <a:ea typeface="Aparajita"/>
              <a:cs typeface="Aparajita"/>
              <a:sym typeface="Aparajita"/>
            </a:endParaRPr>
          </a:p>
        </p:txBody>
      </p:sp>
      <p:sp>
        <p:nvSpPr>
          <p:cNvPr id="200" name="Google Shape;200;p10"/>
          <p:cNvSpPr txBox="1"/>
          <p:nvPr/>
        </p:nvSpPr>
        <p:spPr>
          <a:xfrm>
            <a:off x="6627813" y="2813050"/>
            <a:ext cx="3906837" cy="46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N" sz="2400" b="0" i="0" u="none" strike="noStrike" cap="none">
                <a:solidFill>
                  <a:schemeClr val="accent3"/>
                </a:solidFill>
                <a:latin typeface="Aparajita"/>
                <a:ea typeface="Aparajita"/>
                <a:cs typeface="Aparajita"/>
                <a:sym typeface="Aparajita"/>
              </a:rPr>
              <a:t>Arithmetic Exception</a:t>
            </a:r>
            <a:endParaRPr sz="2400" b="0" i="0" u="none" strike="noStrike" cap="none">
              <a:solidFill>
                <a:schemeClr val="accent3"/>
              </a:solidFill>
              <a:latin typeface="Aparajita"/>
              <a:ea typeface="Aparajita"/>
              <a:cs typeface="Aparajita"/>
              <a:sym typeface="Aparajita"/>
            </a:endParaRPr>
          </a:p>
        </p:txBody>
      </p:sp>
      <p:pic>
        <p:nvPicPr>
          <p:cNvPr id="201" name="Google Shape;201;p10" descr="Capture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48413" y="2646363"/>
            <a:ext cx="4981575" cy="87947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0"/>
          <p:cNvSpPr txBox="1"/>
          <p:nvPr/>
        </p:nvSpPr>
        <p:spPr>
          <a:xfrm>
            <a:off x="6627813" y="3854450"/>
            <a:ext cx="4038600" cy="46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N" sz="2400" b="0" i="0" u="none" strike="noStrike" cap="none">
                <a:solidFill>
                  <a:schemeClr val="accent3"/>
                </a:solidFill>
                <a:latin typeface="Aparajita"/>
                <a:ea typeface="Aparajita"/>
                <a:cs typeface="Aparajita"/>
                <a:sym typeface="Aparajita"/>
              </a:rPr>
              <a:t>OverFlowException</a:t>
            </a:r>
            <a:r>
              <a:rPr lang="en-IN" sz="2400" b="0" i="0" u="none" strike="noStrike" cap="none">
                <a:solidFill>
                  <a:schemeClr val="dk1"/>
                </a:solidFill>
                <a:latin typeface="Aparajita"/>
                <a:ea typeface="Aparajita"/>
                <a:cs typeface="Aparajita"/>
                <a:sym typeface="Aparajita"/>
              </a:rPr>
              <a:t> 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3" name="Google Shape;203;p10" descr="Capture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5663" y="1628775"/>
            <a:ext cx="5037137" cy="841375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0"/>
          <p:cNvSpPr txBox="1"/>
          <p:nvPr/>
        </p:nvSpPr>
        <p:spPr>
          <a:xfrm>
            <a:off x="1319213" y="1820863"/>
            <a:ext cx="4040187" cy="830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N" sz="24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OutOfMemoryException</a:t>
            </a:r>
            <a:endParaRPr sz="2400" b="0" i="0" u="none" strike="noStrike" cap="non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5" name="Google Shape;205;p10" descr="Capture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11900" y="1628775"/>
            <a:ext cx="4981575" cy="87947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0"/>
          <p:cNvSpPr txBox="1"/>
          <p:nvPr/>
        </p:nvSpPr>
        <p:spPr>
          <a:xfrm>
            <a:off x="6626225" y="1816100"/>
            <a:ext cx="3702050" cy="11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IndexOutOfRangeException</a:t>
            </a:r>
            <a:endParaRPr sz="1800" b="0" i="0" u="none" strike="noStrike" cap="none">
              <a:solidFill>
                <a:srgbClr val="FFFFFF"/>
              </a:solidFill>
              <a:latin typeface="Aparajita"/>
              <a:ea typeface="Aparajita"/>
              <a:cs typeface="Aparajita"/>
              <a:sym typeface="Aparajit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Aparajita"/>
              <a:ea typeface="Aparajita"/>
              <a:cs typeface="Aparajita"/>
              <a:sym typeface="Aparajita"/>
            </a:endParaRPr>
          </a:p>
        </p:txBody>
      </p:sp>
      <p:sp>
        <p:nvSpPr>
          <p:cNvPr id="207" name="Google Shape;207;p10"/>
          <p:cNvSpPr txBox="1"/>
          <p:nvPr/>
        </p:nvSpPr>
        <p:spPr>
          <a:xfrm>
            <a:off x="6627813" y="2870200"/>
            <a:ext cx="3906837" cy="46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N" sz="2400" b="0" i="0" u="none" strike="noStrike" cap="none">
                <a:solidFill>
                  <a:schemeClr val="accent3"/>
                </a:solidFill>
                <a:latin typeface="Aparajita"/>
                <a:ea typeface="Aparajita"/>
                <a:cs typeface="Aparajita"/>
                <a:sym typeface="Aparajita"/>
              </a:rPr>
              <a:t>Arithmetic Exception</a:t>
            </a:r>
            <a:endParaRPr sz="2400" b="0" i="0" u="none" strike="noStrike" cap="none">
              <a:solidFill>
                <a:schemeClr val="accent3"/>
              </a:solidFill>
              <a:latin typeface="Aparajita"/>
              <a:ea typeface="Aparajita"/>
              <a:cs typeface="Aparajita"/>
              <a:sym typeface="Aparajita"/>
            </a:endParaRPr>
          </a:p>
        </p:txBody>
      </p:sp>
      <p:pic>
        <p:nvPicPr>
          <p:cNvPr id="208" name="Google Shape;208;p10" descr="Capture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24600" y="3603625"/>
            <a:ext cx="4981575" cy="87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0" descr="Capture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3288" y="4740275"/>
            <a:ext cx="4979987" cy="879475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0"/>
          <p:cNvSpPr txBox="1"/>
          <p:nvPr/>
        </p:nvSpPr>
        <p:spPr>
          <a:xfrm>
            <a:off x="1270000" y="4894263"/>
            <a:ext cx="4425950" cy="7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N" sz="2400" b="0" i="0" u="none" strike="noStrike" cap="none">
                <a:solidFill>
                  <a:schemeClr val="accent3"/>
                </a:solidFill>
                <a:latin typeface="Aparajita"/>
                <a:ea typeface="Aparajita"/>
                <a:cs typeface="Aparajita"/>
                <a:sym typeface="Aparajita"/>
              </a:rPr>
              <a:t>ArrayTypeMismatchException</a:t>
            </a:r>
            <a:endParaRPr sz="1800" b="0" i="0" u="none" strike="noStrike" cap="none">
              <a:solidFill>
                <a:schemeClr val="accent3"/>
              </a:solidFill>
              <a:latin typeface="Aparajita"/>
              <a:ea typeface="Aparajita"/>
              <a:cs typeface="Aparajita"/>
              <a:sym typeface="Aparajit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accent3"/>
              </a:solidFill>
              <a:latin typeface="Aparajita"/>
              <a:ea typeface="Aparajita"/>
              <a:cs typeface="Aparajita"/>
              <a:sym typeface="Aparajita"/>
            </a:endParaRPr>
          </a:p>
        </p:txBody>
      </p:sp>
      <p:pic>
        <p:nvPicPr>
          <p:cNvPr id="211" name="Google Shape;211;p10" descr="Capture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24600" y="2665413"/>
            <a:ext cx="4981575" cy="879475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0"/>
          <p:cNvSpPr txBox="1"/>
          <p:nvPr/>
        </p:nvSpPr>
        <p:spPr>
          <a:xfrm>
            <a:off x="6604000" y="3873500"/>
            <a:ext cx="4038600" cy="46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N" sz="2400" b="0" i="0" u="none" strike="noStrike" cap="none">
                <a:solidFill>
                  <a:schemeClr val="accent3"/>
                </a:solidFill>
                <a:latin typeface="Aparajita"/>
                <a:ea typeface="Aparajita"/>
                <a:cs typeface="Aparajita"/>
                <a:sym typeface="Aparajita"/>
              </a:rPr>
              <a:t>OverFlowException</a:t>
            </a:r>
            <a:r>
              <a:rPr lang="en-IN" sz="2400" b="0" i="0" u="none" strike="noStrike" cap="none">
                <a:solidFill>
                  <a:schemeClr val="dk1"/>
                </a:solidFill>
                <a:latin typeface="Aparajita"/>
                <a:ea typeface="Aparajita"/>
                <a:cs typeface="Aparajita"/>
                <a:sym typeface="Aparajita"/>
              </a:rPr>
              <a:t> 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3" name="Google Shape;213;p10" descr="Capture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3613" y="1666875"/>
            <a:ext cx="4881562" cy="841375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0"/>
          <p:cNvSpPr txBox="1"/>
          <p:nvPr/>
        </p:nvSpPr>
        <p:spPr>
          <a:xfrm>
            <a:off x="1333500" y="1801813"/>
            <a:ext cx="4041775" cy="830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N" sz="24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OutOfMemoryException</a:t>
            </a:r>
            <a:endParaRPr sz="2400" b="0" i="0" u="none" strike="noStrike" cap="non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5" name="Google Shape;215;p10" descr="Capture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48413" y="1647825"/>
            <a:ext cx="4945062" cy="87947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0"/>
          <p:cNvSpPr txBox="1"/>
          <p:nvPr/>
        </p:nvSpPr>
        <p:spPr>
          <a:xfrm>
            <a:off x="6604000" y="1835150"/>
            <a:ext cx="4438650" cy="7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IndexOutOfRangeException</a:t>
            </a:r>
            <a:endParaRPr sz="1800" b="0" i="0" u="none" strike="noStrike" cap="none">
              <a:solidFill>
                <a:srgbClr val="FFFFFF"/>
              </a:solidFill>
              <a:latin typeface="Aparajita"/>
              <a:ea typeface="Aparajita"/>
              <a:cs typeface="Aparajita"/>
              <a:sym typeface="Aparajit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Aparajita"/>
              <a:ea typeface="Aparajita"/>
              <a:cs typeface="Aparajita"/>
              <a:sym typeface="Aparajita"/>
            </a:endParaRPr>
          </a:p>
        </p:txBody>
      </p:sp>
      <p:sp>
        <p:nvSpPr>
          <p:cNvPr id="217" name="Google Shape;217;p10"/>
          <p:cNvSpPr txBox="1"/>
          <p:nvPr/>
        </p:nvSpPr>
        <p:spPr>
          <a:xfrm>
            <a:off x="6604000" y="2889250"/>
            <a:ext cx="3906838" cy="46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N" sz="2400" b="0" i="0" u="none" strike="noStrike" cap="none">
                <a:solidFill>
                  <a:schemeClr val="accent3"/>
                </a:solidFill>
                <a:latin typeface="Aparajita"/>
                <a:ea typeface="Aparajita"/>
                <a:cs typeface="Aparajita"/>
                <a:sym typeface="Aparajita"/>
              </a:rPr>
              <a:t>Arithmetic Exception</a:t>
            </a:r>
            <a:endParaRPr sz="2400" b="0" i="0" u="none" strike="noStrike" cap="none">
              <a:solidFill>
                <a:schemeClr val="accent3"/>
              </a:solidFill>
              <a:latin typeface="Aparajita"/>
              <a:ea typeface="Aparajita"/>
              <a:cs typeface="Aparajita"/>
              <a:sym typeface="Aparajit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Bell MT"/>
              <a:buNone/>
            </a:pPr>
            <a:r>
              <a:rPr lang="en-IN" sz="4400">
                <a:solidFill>
                  <a:srgbClr val="002060"/>
                </a:solidFill>
                <a:latin typeface="Bell MT"/>
                <a:ea typeface="Bell MT"/>
                <a:cs typeface="Bell MT"/>
                <a:sym typeface="Bell MT"/>
              </a:rPr>
              <a:t>What Is Exception Handling??</a:t>
            </a:r>
            <a:endParaRPr sz="4400">
              <a:solidFill>
                <a:srgbClr val="002060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223" name="Google Shape;223;p11" descr="27828922_7338023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7778750" y="2874963"/>
            <a:ext cx="4413250" cy="327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1"/>
          <p:cNvSpPr txBox="1"/>
          <p:nvPr/>
        </p:nvSpPr>
        <p:spPr>
          <a:xfrm>
            <a:off x="520700" y="1866900"/>
            <a:ext cx="10806113" cy="83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1"/>
          <p:cNvSpPr/>
          <p:nvPr/>
        </p:nvSpPr>
        <p:spPr>
          <a:xfrm>
            <a:off x="520700" y="1866900"/>
            <a:ext cx="10972800" cy="858838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12700" cap="flat" cmpd="sng">
            <a:solidFill>
              <a:srgbClr val="5B84A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1"/>
          <p:cNvSpPr txBox="1"/>
          <p:nvPr/>
        </p:nvSpPr>
        <p:spPr>
          <a:xfrm>
            <a:off x="708025" y="1990725"/>
            <a:ext cx="10387013" cy="430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IN" sz="22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“Exception handling" means interpreting and reacting to the exceptions created by errors.</a:t>
            </a:r>
            <a:endParaRPr sz="2200" b="0" i="0" u="none" strike="noStrike" cap="none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7" name="Google Shape;227;p11" descr="Aitrich-Logo-Transparent-BG-1536x50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6063" y="6145213"/>
            <a:ext cx="1870075" cy="377825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1"/>
          <p:cNvSpPr/>
          <p:nvPr/>
        </p:nvSpPr>
        <p:spPr>
          <a:xfrm>
            <a:off x="519113" y="4202113"/>
            <a:ext cx="6765925" cy="1016000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12700" cap="flat" cmpd="sng">
            <a:solidFill>
              <a:srgbClr val="5B84A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parajita"/>
              <a:buNone/>
            </a:pPr>
            <a:endParaRPr sz="2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47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parajita"/>
              <a:buNone/>
            </a:pPr>
            <a:r>
              <a:rPr lang="en-IN" sz="2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Achieved using the Try - Catch - Finally block</a:t>
            </a:r>
            <a:endParaRPr sz="2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47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parajita"/>
              <a:buNone/>
            </a:pPr>
            <a:endParaRPr sz="2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1"/>
          <p:cNvSpPr/>
          <p:nvPr/>
        </p:nvSpPr>
        <p:spPr>
          <a:xfrm>
            <a:off x="520700" y="2884488"/>
            <a:ext cx="6765925" cy="1130300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12700" cap="flat" cmpd="sng">
            <a:solidFill>
              <a:srgbClr val="5B84A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parajita"/>
              <a:buNone/>
            </a:pPr>
            <a:r>
              <a:rPr lang="en-IN" sz="2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Built mechanism in .NET framework to detect and handle run time errors.</a:t>
            </a:r>
            <a:endParaRPr sz="2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12" descr="Picture1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4919663" y="754063"/>
            <a:ext cx="6934200" cy="4983162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12"/>
          <p:cNvSpPr txBox="1"/>
          <p:nvPr/>
        </p:nvSpPr>
        <p:spPr>
          <a:xfrm>
            <a:off x="6091238" y="1604963"/>
            <a:ext cx="4246562" cy="397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try{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........</a:t>
            </a:r>
            <a:b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catch(SomeException e1){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.....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catch(AnotherException e2){</a:t>
            </a:r>
            <a:b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.....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finally{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.....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6" name="Google Shape;236;p12"/>
          <p:cNvCxnSpPr/>
          <p:nvPr/>
        </p:nvCxnSpPr>
        <p:spPr>
          <a:xfrm rot="10800000">
            <a:off x="4438650" y="1395413"/>
            <a:ext cx="1800225" cy="423862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stealth" w="med" len="med"/>
          </a:ln>
        </p:spPr>
      </p:cxnSp>
      <p:sp>
        <p:nvSpPr>
          <p:cNvPr id="237" name="Google Shape;237;p12"/>
          <p:cNvSpPr/>
          <p:nvPr/>
        </p:nvSpPr>
        <p:spPr>
          <a:xfrm>
            <a:off x="360363" y="1047750"/>
            <a:ext cx="4021137" cy="1114425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12700" cap="flat" cmpd="sng">
            <a:solidFill>
              <a:srgbClr val="5B84A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2"/>
          <p:cNvSpPr txBox="1"/>
          <p:nvPr/>
        </p:nvSpPr>
        <p:spPr>
          <a:xfrm>
            <a:off x="533400" y="1184275"/>
            <a:ext cx="37338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IN" sz="22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Code </a:t>
            </a:r>
            <a:r>
              <a:rPr lang="en-IN" sz="22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Block</a:t>
            </a:r>
            <a:r>
              <a:rPr lang="en-IN" sz="22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 for which we want to catch some  Exception</a:t>
            </a:r>
            <a:endParaRPr sz="2200" b="0" i="0" u="none" strike="noStrike" cap="none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9" name="Google Shape;239;p12"/>
          <p:cNvCxnSpPr/>
          <p:nvPr/>
        </p:nvCxnSpPr>
        <p:spPr>
          <a:xfrm flipH="1">
            <a:off x="4308475" y="2600325"/>
            <a:ext cx="1930400" cy="73025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stealth" w="med" len="med"/>
          </a:ln>
        </p:spPr>
      </p:cxnSp>
      <p:cxnSp>
        <p:nvCxnSpPr>
          <p:cNvPr id="240" name="Google Shape;240;p12"/>
          <p:cNvCxnSpPr/>
          <p:nvPr/>
        </p:nvCxnSpPr>
        <p:spPr>
          <a:xfrm rot="10800000">
            <a:off x="4333875" y="3362325"/>
            <a:ext cx="1771650" cy="38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stealth" w="med" len="med"/>
          </a:ln>
        </p:spPr>
      </p:cxnSp>
      <p:sp>
        <p:nvSpPr>
          <p:cNvPr id="241" name="Google Shape;241;p12"/>
          <p:cNvSpPr/>
          <p:nvPr/>
        </p:nvSpPr>
        <p:spPr>
          <a:xfrm>
            <a:off x="368300" y="2447925"/>
            <a:ext cx="3956050" cy="1593850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12700" cap="flat" cmpd="sng">
            <a:solidFill>
              <a:srgbClr val="5B84A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2"/>
          <p:cNvSpPr txBox="1"/>
          <p:nvPr/>
        </p:nvSpPr>
        <p:spPr>
          <a:xfrm>
            <a:off x="663575" y="2584450"/>
            <a:ext cx="3462338" cy="1444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Each catch deals with class of Exceptions,determined by the run-time system based on the type of the argument</a:t>
            </a:r>
            <a:endParaRPr sz="2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3" name="Google Shape;243;p12"/>
          <p:cNvCxnSpPr/>
          <p:nvPr/>
        </p:nvCxnSpPr>
        <p:spPr>
          <a:xfrm flipH="1">
            <a:off x="4333875" y="4314825"/>
            <a:ext cx="1847850" cy="59055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stealth" w="med" len="med"/>
          </a:ln>
        </p:spPr>
      </p:cxnSp>
      <p:sp>
        <p:nvSpPr>
          <p:cNvPr id="244" name="Google Shape;244;p12"/>
          <p:cNvSpPr/>
          <p:nvPr/>
        </p:nvSpPr>
        <p:spPr>
          <a:xfrm>
            <a:off x="368300" y="4329113"/>
            <a:ext cx="3940175" cy="1270000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12700" cap="flat" cmpd="sng">
            <a:solidFill>
              <a:srgbClr val="5B84A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2"/>
          <p:cNvSpPr txBox="1"/>
          <p:nvPr/>
        </p:nvSpPr>
        <p:spPr>
          <a:xfrm>
            <a:off x="663575" y="4460875"/>
            <a:ext cx="3549650" cy="1106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code in finally is executed always after leaving the try-block</a:t>
            </a:r>
            <a:endParaRPr sz="2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2"/>
          <p:cNvSpPr txBox="1">
            <a:spLocks noGrp="1"/>
          </p:cNvSpPr>
          <p:nvPr>
            <p:ph type="body" idx="2"/>
          </p:nvPr>
        </p:nvSpPr>
        <p:spPr>
          <a:xfrm>
            <a:off x="5364163" y="2162175"/>
            <a:ext cx="4041775" cy="3917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7" name="Google Shape;247;p12" descr="Aitrich-Logo-Transparent-BG-1536x50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6063" y="6145213"/>
            <a:ext cx="1870075" cy="377825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12"/>
          <p:cNvSpPr txBox="1"/>
          <p:nvPr/>
        </p:nvSpPr>
        <p:spPr>
          <a:xfrm>
            <a:off x="246063" y="114300"/>
            <a:ext cx="3925887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 i="0" u="none" strike="noStrike" cap="none">
                <a:solidFill>
                  <a:srgbClr val="000000"/>
                </a:solidFill>
                <a:latin typeface="Bell MT"/>
                <a:ea typeface="Bell MT"/>
                <a:cs typeface="Bell MT"/>
                <a:sym typeface="Bell MT"/>
              </a:rPr>
              <a:t>Structure:</a:t>
            </a:r>
            <a:endParaRPr sz="3200" b="1" i="0" u="none" strike="noStrike" cap="none">
              <a:solidFill>
                <a:srgbClr val="000000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13" descr="Capture9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6702425" y="1344613"/>
            <a:ext cx="4895850" cy="4457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3"/>
          <p:cNvSpPr/>
          <p:nvPr/>
        </p:nvSpPr>
        <p:spPr>
          <a:xfrm>
            <a:off x="6350" y="1344613"/>
            <a:ext cx="6205538" cy="950912"/>
          </a:xfrm>
          <a:prstGeom prst="homePlate">
            <a:avLst>
              <a:gd name="adj" fmla="val 50032"/>
            </a:avLst>
          </a:prstGeom>
          <a:solidFill>
            <a:srgbClr val="002060"/>
          </a:solidFill>
          <a:ln w="12700" cap="flat" cmpd="sng">
            <a:solidFill>
              <a:srgbClr val="5B84A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3"/>
          <p:cNvSpPr txBox="1"/>
          <p:nvPr/>
        </p:nvSpPr>
        <p:spPr>
          <a:xfrm>
            <a:off x="6350" y="1344613"/>
            <a:ext cx="5630863" cy="1106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IN" sz="2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Structured exception handling tests specific pieces of the code when exception occurs</a:t>
            </a:r>
            <a:r>
              <a:rPr lang="en-IN" sz="22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200" b="0" i="0" u="none" strike="noStrike" cap="none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0" i="0" u="none" strike="noStrike" cap="none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3"/>
          <p:cNvSpPr/>
          <p:nvPr/>
        </p:nvSpPr>
        <p:spPr>
          <a:xfrm>
            <a:off x="28575" y="2906713"/>
            <a:ext cx="6181725" cy="1130300"/>
          </a:xfrm>
          <a:prstGeom prst="homePlate">
            <a:avLst>
              <a:gd name="adj" fmla="val 50007"/>
            </a:avLst>
          </a:prstGeom>
          <a:solidFill>
            <a:srgbClr val="002060"/>
          </a:solidFill>
          <a:ln w="12700" cap="flat" cmpd="sng">
            <a:solidFill>
              <a:srgbClr val="5B84A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3"/>
          <p:cNvSpPr txBox="1"/>
          <p:nvPr/>
        </p:nvSpPr>
        <p:spPr>
          <a:xfrm>
            <a:off x="28575" y="2981325"/>
            <a:ext cx="5748338" cy="1108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 </a:t>
            </a:r>
            <a:r>
              <a:rPr lang="en-IN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Try...Catch...Finally</a:t>
            </a:r>
            <a:r>
              <a:rPr lang="en-IN" sz="2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 control structure is fundamental to structured exception handling.</a:t>
            </a:r>
            <a:r>
              <a:rPr lang="en-IN" sz="2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3"/>
          <p:cNvSpPr/>
          <p:nvPr/>
        </p:nvSpPr>
        <p:spPr>
          <a:xfrm>
            <a:off x="6350" y="4589463"/>
            <a:ext cx="6203950" cy="1023937"/>
          </a:xfrm>
          <a:prstGeom prst="homePlate">
            <a:avLst>
              <a:gd name="adj" fmla="val 49986"/>
            </a:avLst>
          </a:prstGeom>
          <a:solidFill>
            <a:srgbClr val="002060"/>
          </a:solidFill>
          <a:ln w="12700" cap="flat" cmpd="sng">
            <a:solidFill>
              <a:srgbClr val="5B84A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9" name="Google Shape;259;p13" descr="Aitrich-Logo-Transparent-BG-1536x50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1938" y="6129338"/>
            <a:ext cx="1870075" cy="377825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13"/>
          <p:cNvSpPr txBox="1"/>
          <p:nvPr/>
        </p:nvSpPr>
        <p:spPr>
          <a:xfrm>
            <a:off x="6350" y="4367213"/>
            <a:ext cx="5630863" cy="1106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It Reacts differently based on the type of thrown exception.</a:t>
            </a:r>
            <a:endParaRPr sz="2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3"/>
          <p:cNvSpPr txBox="1"/>
          <p:nvPr/>
        </p:nvSpPr>
        <p:spPr>
          <a:xfrm>
            <a:off x="377825" y="387350"/>
            <a:ext cx="4017963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 i="0" u="none" strike="noStrike" cap="none">
                <a:solidFill>
                  <a:srgbClr val="000000"/>
                </a:solidFill>
                <a:latin typeface="Bell MT"/>
                <a:ea typeface="Bell MT"/>
                <a:cs typeface="Bell MT"/>
                <a:sym typeface="Bell MT"/>
              </a:rPr>
              <a:t>Work Flow:</a:t>
            </a:r>
            <a:endParaRPr sz="2800" b="1" i="0" u="none" strike="noStrike" cap="none">
              <a:solidFill>
                <a:srgbClr val="000000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2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2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847388" cy="842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None/>
            </a:pPr>
            <a:br>
              <a:rPr lang="en-IN" sz="44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 sz="44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try/catch Blocks</a:t>
            </a:r>
            <a:br>
              <a:rPr lang="en-IN" sz="44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</a:br>
            <a:endParaRPr sz="4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4"/>
          <p:cNvSpPr txBox="1">
            <a:spLocks noGrp="1"/>
          </p:cNvSpPr>
          <p:nvPr>
            <p:ph type="body" idx="1"/>
          </p:nvPr>
        </p:nvSpPr>
        <p:spPr>
          <a:xfrm>
            <a:off x="0" y="1673225"/>
            <a:ext cx="7529513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651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Noto Sans Symbols"/>
              <a:buNone/>
            </a:pP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342900" lvl="0" indent="-1651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Noto Sans Symbols"/>
              <a:buNone/>
            </a:pP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342900" lvl="0" indent="-1651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Noto Sans Symbols"/>
              <a:buNone/>
            </a:pP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457200" lvl="1" indent="0" algn="just" rtl="0">
              <a:lnSpc>
                <a:spcPct val="160000"/>
              </a:lnSpc>
              <a:spcBef>
                <a:spcPts val="475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Noto Sans Symbols"/>
              <a:buNone/>
            </a:pPr>
            <a:r>
              <a:rPr lang="en-IN" sz="2000">
                <a:latin typeface="Arial"/>
                <a:ea typeface="Arial"/>
                <a:cs typeface="Arial"/>
                <a:sym typeface="Arial"/>
              </a:rPr>
              <a:t>  	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457200" lvl="1" indent="0" algn="just" rtl="0">
              <a:lnSpc>
                <a:spcPct val="160000"/>
              </a:lnSpc>
              <a:spcBef>
                <a:spcPts val="475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Noto Sans Symbols"/>
              <a:buNone/>
            </a:pPr>
            <a:r>
              <a:rPr lang="en-IN" sz="2400"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IN" sz="2000">
                <a:latin typeface="Arial"/>
                <a:ea typeface="Arial"/>
                <a:cs typeface="Arial"/>
                <a:sym typeface="Arial"/>
              </a:rPr>
              <a:t>     	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342900" lvl="0" indent="-165100" algn="just" rtl="0">
              <a:lnSpc>
                <a:spcPct val="160000"/>
              </a:lnSpc>
              <a:spcBef>
                <a:spcPts val="563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Noto Sans Symbols"/>
              <a:buNone/>
            </a:pP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8" name="Google Shape;268;p14" descr="Capture10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172450" y="1282700"/>
            <a:ext cx="3590925" cy="3446463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14"/>
          <p:cNvSpPr/>
          <p:nvPr/>
        </p:nvSpPr>
        <p:spPr>
          <a:xfrm>
            <a:off x="609600" y="1412875"/>
            <a:ext cx="6880225" cy="758825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12700" cap="flat" cmpd="sng">
            <a:solidFill>
              <a:srgbClr val="5B84A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4"/>
          <p:cNvSpPr txBox="1"/>
          <p:nvPr/>
        </p:nvSpPr>
        <p:spPr>
          <a:xfrm>
            <a:off x="825500" y="1296988"/>
            <a:ext cx="647065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When exceptions are thrown, It must be handled</a:t>
            </a:r>
            <a:endParaRPr sz="2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4"/>
          <p:cNvSpPr txBox="1"/>
          <p:nvPr/>
        </p:nvSpPr>
        <p:spPr>
          <a:xfrm>
            <a:off x="458788" y="2901950"/>
            <a:ext cx="5946775" cy="46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This done by,</a:t>
            </a:r>
            <a:endParaRPr sz="2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4"/>
          <p:cNvSpPr txBox="1"/>
          <p:nvPr/>
        </p:nvSpPr>
        <p:spPr>
          <a:xfrm>
            <a:off x="503238" y="2951163"/>
            <a:ext cx="5795962" cy="46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N" sz="24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Done by using  try-catch block</a:t>
            </a:r>
            <a:endParaRPr sz="2400" b="0" i="0" u="none" strike="noStrike" cap="non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4"/>
          <p:cNvSpPr txBox="1"/>
          <p:nvPr/>
        </p:nvSpPr>
        <p:spPr>
          <a:xfrm>
            <a:off x="271463" y="5330825"/>
            <a:ext cx="9096375" cy="46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N" sz="24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And an exception handling code goes in the catch block</a:t>
            </a:r>
            <a:endParaRPr sz="2400" b="0" i="0" u="none" strike="noStrike" cap="non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4"/>
          <p:cNvSpPr/>
          <p:nvPr/>
        </p:nvSpPr>
        <p:spPr>
          <a:xfrm>
            <a:off x="619125" y="4764088"/>
            <a:ext cx="9340850" cy="855662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12700" cap="flat" cmpd="sng">
            <a:solidFill>
              <a:srgbClr val="5B84A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4"/>
          <p:cNvSpPr/>
          <p:nvPr/>
        </p:nvSpPr>
        <p:spPr>
          <a:xfrm>
            <a:off x="609600" y="3524250"/>
            <a:ext cx="6870700" cy="958850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12700" cap="flat" cmpd="sng">
            <a:solidFill>
              <a:srgbClr val="5B84A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4"/>
          <p:cNvSpPr txBox="1"/>
          <p:nvPr/>
        </p:nvSpPr>
        <p:spPr>
          <a:xfrm>
            <a:off x="852488" y="3630613"/>
            <a:ext cx="6443662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parajita"/>
              <a:buNone/>
            </a:pPr>
            <a:r>
              <a:rPr lang="en-IN" sz="22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Code that could throw an exception is put in the try block </a:t>
            </a:r>
            <a:endParaRPr sz="2200" b="0" i="0" u="none" strike="noStrike" cap="none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4"/>
          <p:cNvSpPr/>
          <p:nvPr/>
        </p:nvSpPr>
        <p:spPr>
          <a:xfrm>
            <a:off x="609600" y="2552700"/>
            <a:ext cx="6900863" cy="635000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12700" cap="flat" cmpd="sng">
            <a:solidFill>
              <a:srgbClr val="5B84A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4"/>
          <p:cNvSpPr txBox="1"/>
          <p:nvPr/>
        </p:nvSpPr>
        <p:spPr>
          <a:xfrm>
            <a:off x="863600" y="2632075"/>
            <a:ext cx="5389563" cy="430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IN" sz="22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Done by using  try-catch block</a:t>
            </a:r>
            <a:endParaRPr sz="2200" b="0" i="0" u="none" strike="noStrike" cap="none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4"/>
          <p:cNvSpPr txBox="1"/>
          <p:nvPr/>
        </p:nvSpPr>
        <p:spPr>
          <a:xfrm>
            <a:off x="863600" y="4905375"/>
            <a:ext cx="9120188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IN" sz="22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 Exception handling code goes in the catch block</a:t>
            </a:r>
            <a:endParaRPr sz="2200" b="0" i="0" u="none" strike="noStrike" cap="none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0" name="Google Shape;280;p14" descr="Aitrich-Logo-Transparent-BG-1536x50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1938" y="6129338"/>
            <a:ext cx="1870075" cy="37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2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2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2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2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None/>
            </a:pPr>
            <a:br>
              <a:rPr lang="en-IN" sz="44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 sz="4400">
                <a:solidFill>
                  <a:srgbClr val="002060"/>
                </a:solidFill>
                <a:latin typeface="Bell MT"/>
                <a:ea typeface="Bell MT"/>
                <a:cs typeface="Bell MT"/>
                <a:sym typeface="Bell MT"/>
              </a:rPr>
              <a:t>Multiple Catch Blocks</a:t>
            </a:r>
            <a:br>
              <a:rPr lang="en-IN" sz="44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</a:br>
            <a:endParaRPr sz="4400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6" name="Google Shape;286;p15" descr="5784490_2978422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6232525" y="1603375"/>
            <a:ext cx="4525963" cy="4525963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15"/>
          <p:cNvSpPr/>
          <p:nvPr/>
        </p:nvSpPr>
        <p:spPr>
          <a:xfrm>
            <a:off x="777875" y="2662238"/>
            <a:ext cx="5141913" cy="1895475"/>
          </a:xfrm>
          <a:prstGeom prst="wedgeRoundRectCallout">
            <a:avLst>
              <a:gd name="adj1" fmla="val -20833"/>
              <a:gd name="adj2" fmla="val 62500"/>
              <a:gd name="adj3" fmla="val 16667"/>
            </a:avLst>
          </a:prstGeom>
          <a:solidFill>
            <a:srgbClr val="002060"/>
          </a:solidFill>
          <a:ln w="12700" cap="flat" cmpd="sng">
            <a:solidFill>
              <a:srgbClr val="5B84A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5"/>
          <p:cNvSpPr txBox="1"/>
          <p:nvPr/>
        </p:nvSpPr>
        <p:spPr>
          <a:xfrm>
            <a:off x="1062038" y="2989263"/>
            <a:ext cx="4689475" cy="156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try block can throw multiple exceptions, which can handle by using multiple catch blocks.</a:t>
            </a:r>
            <a:endParaRPr sz="2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9" name="Google Shape;289;p15" descr="Aitrich-Logo-Transparent-BG-1536x50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1938" y="6129338"/>
            <a:ext cx="1870075" cy="37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2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Google Shape;294;p16" descr="Picture1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3575050" y="912813"/>
            <a:ext cx="8134350" cy="5030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16" descr="side-view-hand-pointing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0" y="1649413"/>
            <a:ext cx="3136900" cy="3559175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16"/>
          <p:cNvSpPr txBox="1"/>
          <p:nvPr/>
        </p:nvSpPr>
        <p:spPr>
          <a:xfrm>
            <a:off x="4121150" y="1344613"/>
            <a:ext cx="704215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0" i="0" u="none" strike="noStrike" cap="none">
                <a:solidFill>
                  <a:srgbClr val="007BD3"/>
                </a:solidFill>
                <a:latin typeface="Arial"/>
                <a:ea typeface="Arial"/>
                <a:cs typeface="Arial"/>
                <a:sym typeface="Arial"/>
              </a:rPr>
              <a:t>Class </a:t>
            </a:r>
            <a:r>
              <a:rPr lang="en-IN" sz="1800" b="0" i="0" u="none" strike="noStrike" cap="non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program</a:t>
            </a:r>
            <a: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0" i="0" u="none" strike="noStrike" cap="none">
                <a:solidFill>
                  <a:srgbClr val="007BD3"/>
                </a:solidFill>
                <a:latin typeface="Arial"/>
                <a:ea typeface="Arial"/>
                <a:cs typeface="Arial"/>
                <a:sym typeface="Arial"/>
              </a:rPr>
              <a:t>private void </a:t>
            </a:r>
            <a: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DoSomething(){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try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IN" sz="1800" b="0" i="0" u="none" strike="noStrike" cap="none">
                <a:solidFill>
                  <a:srgbClr val="012D86"/>
                </a:solidFill>
                <a:latin typeface="Arial"/>
                <a:ea typeface="Arial"/>
                <a:cs typeface="Arial"/>
                <a:sym typeface="Arial"/>
              </a:rPr>
              <a:t>throw new</a:t>
            </a:r>
            <a:r>
              <a:rPr lang="en-IN" sz="18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N" sz="1800" b="0" i="0" u="none" strike="noStrike" cap="non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ArgumentNullException</a:t>
            </a:r>
            <a: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();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0" i="0" u="none" strike="noStrike" cap="none">
                <a:solidFill>
                  <a:srgbClr val="135BA2"/>
                </a:solidFill>
                <a:latin typeface="Arial"/>
                <a:ea typeface="Arial"/>
                <a:cs typeface="Arial"/>
                <a:sym typeface="Arial"/>
              </a:rPr>
              <a:t>catch</a:t>
            </a:r>
            <a: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IN" sz="1800" b="0" i="0" u="none" strike="noStrike" cap="non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ArgumentNullException </a:t>
            </a:r>
            <a: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ex)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//will  reach here..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catch</a:t>
            </a:r>
            <a: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IN" sz="1800" b="0" i="0" u="none" strike="noStrike" cap="non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ArgumentException </a:t>
            </a:r>
            <a: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ex)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will reach here...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b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7" name="Google Shape;297;p16" descr="Aitrich-Logo-Transparent-BG-1536x50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46063" y="6145213"/>
            <a:ext cx="1870075" cy="377825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16"/>
          <p:cNvSpPr txBox="1"/>
          <p:nvPr/>
        </p:nvSpPr>
        <p:spPr>
          <a:xfrm>
            <a:off x="525463" y="185738"/>
            <a:ext cx="4949825" cy="522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 i="0" u="none" strike="noStrike" cap="none">
                <a:solidFill>
                  <a:srgbClr val="000000"/>
                </a:solidFill>
                <a:latin typeface="Bell MT"/>
                <a:ea typeface="Bell MT"/>
                <a:cs typeface="Bell MT"/>
                <a:sym typeface="Bell MT"/>
              </a:rPr>
              <a:t>Structure:</a:t>
            </a:r>
            <a:endParaRPr sz="2800" b="1" i="0" u="none" strike="noStrike" cap="none">
              <a:solidFill>
                <a:srgbClr val="000000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</p:spTree>
  </p:cSld>
  <p:clrMapOvr>
    <a:masterClrMapping/>
  </p:clrMapOvr>
  <p:transition spd="slow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7"/>
          <p:cNvSpPr txBox="1"/>
          <p:nvPr/>
        </p:nvSpPr>
        <p:spPr>
          <a:xfrm>
            <a:off x="3482975" y="5643563"/>
            <a:ext cx="5757863" cy="3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0" i="0" u="none" strike="noStrike" cap="none">
                <a:solidFill>
                  <a:srgbClr val="FECF4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 sz="1800" b="0" i="0" u="none" strike="noStrike" cap="none">
              <a:solidFill>
                <a:srgbClr val="FECF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4" name="Google Shape;304;p17" descr="Aitrich-Logo-Transparent-BG-1536x50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1475" y="6151563"/>
            <a:ext cx="1557338" cy="477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17" descr="side-view-hand-pointing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0" y="1649413"/>
            <a:ext cx="3136900" cy="3559175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17"/>
          <p:cNvSpPr txBox="1"/>
          <p:nvPr/>
        </p:nvSpPr>
        <p:spPr>
          <a:xfrm>
            <a:off x="371475" y="263525"/>
            <a:ext cx="2822575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 i="0" u="none" strike="noStrike" cap="none">
                <a:solidFill>
                  <a:srgbClr val="000000"/>
                </a:solidFill>
                <a:latin typeface="Bell MT"/>
                <a:ea typeface="Bell MT"/>
                <a:cs typeface="Bell MT"/>
                <a:sym typeface="Bell MT"/>
              </a:rPr>
              <a:t>Example:</a:t>
            </a:r>
            <a:endParaRPr sz="2800" b="1" i="0" u="none" strike="noStrike" cap="none">
              <a:solidFill>
                <a:srgbClr val="000000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307" name="Google Shape;307;p17"/>
          <p:cNvSpPr txBox="1">
            <a:spLocks noGrp="1"/>
          </p:cNvSpPr>
          <p:nvPr>
            <p:ph type="body" idx="1"/>
          </p:nvPr>
        </p:nvSpPr>
        <p:spPr>
          <a:xfrm>
            <a:off x="3863975" y="1014413"/>
            <a:ext cx="5376863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363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8" name="Google Shape;308;p1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954338" y="639763"/>
            <a:ext cx="7913687" cy="52752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8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None/>
            </a:pPr>
            <a:br>
              <a:rPr lang="en-IN" sz="44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 sz="4400">
                <a:solidFill>
                  <a:srgbClr val="002060"/>
                </a:solidFill>
                <a:latin typeface="Bell MT"/>
                <a:ea typeface="Bell MT"/>
                <a:cs typeface="Bell MT"/>
                <a:sym typeface="Bell MT"/>
              </a:rPr>
              <a:t>Finally Blocks</a:t>
            </a:r>
            <a:br>
              <a:rPr lang="en-IN" sz="4400">
                <a:latin typeface="Arial"/>
                <a:ea typeface="Arial"/>
                <a:cs typeface="Arial"/>
                <a:sym typeface="Arial"/>
              </a:rPr>
            </a:br>
            <a:br>
              <a:rPr lang="en-IN" sz="4400">
                <a:latin typeface="Arial"/>
                <a:ea typeface="Arial"/>
                <a:cs typeface="Arial"/>
                <a:sym typeface="Arial"/>
              </a:rPr>
            </a:br>
            <a:endParaRPr sz="4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8"/>
          <p:cNvSpPr/>
          <p:nvPr/>
        </p:nvSpPr>
        <p:spPr>
          <a:xfrm>
            <a:off x="574675" y="2019300"/>
            <a:ext cx="7878763" cy="893763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12700" cap="flat" cmpd="sng">
            <a:solidFill>
              <a:srgbClr val="5B84A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8"/>
          <p:cNvSpPr txBox="1"/>
          <p:nvPr/>
        </p:nvSpPr>
        <p:spPr>
          <a:xfrm>
            <a:off x="609600" y="2238375"/>
            <a:ext cx="7967663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IN" sz="22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Finally block must appear after all the catch block</a:t>
            </a:r>
            <a:r>
              <a:rPr lang="en-IN"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6" name="Google Shape;316;p18" descr="11121752_4637181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731250" y="1981200"/>
            <a:ext cx="3460750" cy="3735388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18"/>
          <p:cNvSpPr/>
          <p:nvPr/>
        </p:nvSpPr>
        <p:spPr>
          <a:xfrm>
            <a:off x="623888" y="3189288"/>
            <a:ext cx="7877175" cy="1044575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12700" cap="flat" cmpd="sng">
            <a:solidFill>
              <a:srgbClr val="5B84A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8"/>
          <p:cNvSpPr txBox="1"/>
          <p:nvPr/>
        </p:nvSpPr>
        <p:spPr>
          <a:xfrm>
            <a:off x="796925" y="3295650"/>
            <a:ext cx="7362825" cy="1108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Contains the code that always executes, whether or not any </a:t>
            </a:r>
            <a:r>
              <a:rPr lang="en-I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exception</a:t>
            </a:r>
            <a:r>
              <a:rPr lang="en-IN" sz="2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occurs</a:t>
            </a:r>
            <a:r>
              <a:rPr lang="en-IN" sz="2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8"/>
          <p:cNvSpPr/>
          <p:nvPr/>
        </p:nvSpPr>
        <p:spPr>
          <a:xfrm>
            <a:off x="574675" y="4694238"/>
            <a:ext cx="7880350" cy="965200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12700" cap="flat" cmpd="sng">
            <a:solidFill>
              <a:srgbClr val="5B84A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8"/>
          <p:cNvSpPr txBox="1"/>
          <p:nvPr/>
        </p:nvSpPr>
        <p:spPr>
          <a:xfrm>
            <a:off x="609600" y="4694238"/>
            <a:ext cx="7896225" cy="769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parajita"/>
              <a:buNone/>
            </a:pPr>
            <a:r>
              <a:rPr lang="en-IN" sz="2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If you use transfer control statement in finally block, you will receive compile time error</a:t>
            </a:r>
            <a:r>
              <a:rPr lang="en-IN" sz="2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3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Google Shape;325;p19" descr="835760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7439025" y="1895475"/>
            <a:ext cx="4752975" cy="4733925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19"/>
          <p:cNvSpPr/>
          <p:nvPr/>
        </p:nvSpPr>
        <p:spPr>
          <a:xfrm>
            <a:off x="371475" y="533400"/>
            <a:ext cx="6154738" cy="1362075"/>
          </a:xfrm>
          <a:prstGeom prst="stripedRightArrow">
            <a:avLst>
              <a:gd name="adj1" fmla="val 50000"/>
              <a:gd name="adj2" fmla="val 50000"/>
            </a:avLst>
          </a:prstGeom>
          <a:solidFill>
            <a:srgbClr val="002060"/>
          </a:solidFill>
          <a:ln w="12700" cap="flat" cmpd="sng">
            <a:solidFill>
              <a:srgbClr val="5B84A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9"/>
          <p:cNvSpPr txBox="1"/>
          <p:nvPr/>
        </p:nvSpPr>
        <p:spPr>
          <a:xfrm>
            <a:off x="619125" y="1016000"/>
            <a:ext cx="4876800" cy="46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N" sz="2400" b="1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When to use finally block ?</a:t>
            </a:r>
            <a:endParaRPr sz="2400" b="1" i="0" u="none" strike="noStrike" cap="none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9"/>
          <p:cNvSpPr txBox="1"/>
          <p:nvPr/>
        </p:nvSpPr>
        <p:spPr>
          <a:xfrm>
            <a:off x="257175" y="2306638"/>
            <a:ext cx="7694613" cy="3046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Noto Sans Symbols"/>
              <a:buChar char="▪"/>
            </a:pPr>
            <a:r>
              <a:rPr lang="en-IN" sz="24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A code fragment that must be executed regardless of exception. </a:t>
            </a:r>
            <a:endParaRPr sz="2400" b="1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190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1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1" indent="-342900" algn="l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Noto Sans Symbols"/>
              <a:buChar char="▪"/>
            </a:pPr>
            <a:r>
              <a:rPr lang="en-IN" sz="24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Cleaning up resources such as closing file objects, releasing database connections etc.</a:t>
            </a:r>
            <a:endParaRPr sz="2400" b="1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190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1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1" indent="-342900" algn="l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Noto Sans Symbols"/>
              <a:buChar char="▪"/>
            </a:pPr>
            <a:r>
              <a:rPr lang="en-IN" sz="24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Only One finally block is associated with try block.</a:t>
            </a:r>
            <a:endParaRPr sz="2400" b="1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9" name="Google Shape;329;p19" descr="Aitrich-Logo-Transparent-BG-1536x50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1475" y="6151563"/>
            <a:ext cx="1557338" cy="4778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" name="Google Shape;334;p20" descr="Picture1 (1)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895600" y="635000"/>
            <a:ext cx="8818563" cy="569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20" descr="Aitrich-Logo-Transparent-BG-1536x504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6334125"/>
            <a:ext cx="1546225" cy="38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20" descr="side-view-hand-pointi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1933575"/>
            <a:ext cx="2663825" cy="2513013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20"/>
          <p:cNvSpPr txBox="1"/>
          <p:nvPr/>
        </p:nvSpPr>
        <p:spPr>
          <a:xfrm>
            <a:off x="633413" y="341313"/>
            <a:ext cx="1598612" cy="522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 i="0" u="none" strike="noStrike" cap="none">
                <a:solidFill>
                  <a:srgbClr val="000000"/>
                </a:solidFill>
                <a:latin typeface="Bell MT"/>
                <a:ea typeface="Bell MT"/>
                <a:cs typeface="Bell MT"/>
                <a:sym typeface="Bell MT"/>
              </a:rPr>
              <a:t>Example:</a:t>
            </a:r>
            <a:endParaRPr sz="2800" b="1" i="0" u="none" strike="noStrike" cap="none">
              <a:solidFill>
                <a:srgbClr val="000000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338" name="Google Shape;338;p2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978150" y="944563"/>
            <a:ext cx="8615363" cy="5389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1"/>
          <p:cNvSpPr txBox="1">
            <a:spLocks noGrp="1"/>
          </p:cNvSpPr>
          <p:nvPr>
            <p:ph type="title"/>
          </p:nvPr>
        </p:nvSpPr>
        <p:spPr>
          <a:xfrm>
            <a:off x="609600" y="29368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Bell MT"/>
              <a:buNone/>
            </a:pPr>
            <a:r>
              <a:rPr lang="en-IN" sz="4400">
                <a:solidFill>
                  <a:srgbClr val="002060"/>
                </a:solidFill>
                <a:latin typeface="Bell MT"/>
                <a:ea typeface="Bell MT"/>
                <a:cs typeface="Bell MT"/>
                <a:sym typeface="Bell MT"/>
              </a:rPr>
              <a:t>Application Exception</a:t>
            </a:r>
            <a:endParaRPr sz="4400">
              <a:solidFill>
                <a:srgbClr val="002060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344" name="Google Shape;344;p21"/>
          <p:cNvSpPr/>
          <p:nvPr/>
        </p:nvSpPr>
        <p:spPr>
          <a:xfrm>
            <a:off x="609600" y="1771650"/>
            <a:ext cx="8237538" cy="941388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12700" cap="flat" cmpd="sng">
            <a:solidFill>
              <a:srgbClr val="5B84A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21"/>
          <p:cNvSpPr txBox="1"/>
          <p:nvPr/>
        </p:nvSpPr>
        <p:spPr>
          <a:xfrm>
            <a:off x="609600" y="2012950"/>
            <a:ext cx="8220075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Thrown by a user program, not by the common language runtime</a:t>
            </a:r>
            <a:endParaRPr sz="2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6" name="Google Shape;346;p21" descr="12977763_5107023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847138" y="1436688"/>
            <a:ext cx="2992437" cy="4981575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21"/>
          <p:cNvSpPr/>
          <p:nvPr/>
        </p:nvSpPr>
        <p:spPr>
          <a:xfrm>
            <a:off x="609600" y="3060700"/>
            <a:ext cx="8237538" cy="1050925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12700" cap="flat" cmpd="sng">
            <a:solidFill>
              <a:srgbClr val="5B84A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21"/>
          <p:cNvSpPr/>
          <p:nvPr/>
        </p:nvSpPr>
        <p:spPr>
          <a:xfrm>
            <a:off x="609600" y="4460875"/>
            <a:ext cx="8237538" cy="955675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12700" cap="flat" cmpd="sng">
            <a:solidFill>
              <a:srgbClr val="5B84A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21"/>
          <p:cNvSpPr txBox="1"/>
          <p:nvPr/>
        </p:nvSpPr>
        <p:spPr>
          <a:xfrm>
            <a:off x="717550" y="3117850"/>
            <a:ext cx="8285163" cy="1106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Create a custom exception class by deriving the  ApplicationException class.</a:t>
            </a:r>
            <a:endParaRPr sz="2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1"/>
          <p:cNvSpPr txBox="1"/>
          <p:nvPr/>
        </p:nvSpPr>
        <p:spPr>
          <a:xfrm>
            <a:off x="842963" y="4460875"/>
            <a:ext cx="7986712" cy="1106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IN" sz="22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The </a:t>
            </a:r>
            <a:r>
              <a:rPr lang="en-IN" sz="2200" b="1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throw</a:t>
            </a:r>
            <a:r>
              <a:rPr lang="en-IN" sz="22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 statement is used to signal the occurrence of an anomalous situation (exception) during the program execution.</a:t>
            </a:r>
            <a:endParaRPr sz="2200" b="0" i="0" u="none" strike="noStrike" cap="none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0" i="0" u="none" strike="noStrike" cap="none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1" name="Google Shape;351;p21" descr="Aitrich-Logo-Transparent-BG-1536x504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6353175"/>
            <a:ext cx="1546225" cy="38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3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3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3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3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3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2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Bell MT"/>
              <a:buNone/>
            </a:pPr>
            <a:r>
              <a:rPr lang="en-IN" sz="4400">
                <a:solidFill>
                  <a:srgbClr val="002060"/>
                </a:solidFill>
                <a:latin typeface="Bell MT"/>
                <a:ea typeface="Bell MT"/>
                <a:cs typeface="Bell MT"/>
                <a:sym typeface="Bell MT"/>
              </a:rPr>
              <a:t>Defensive Programming</a:t>
            </a:r>
            <a:endParaRPr sz="4400">
              <a:solidFill>
                <a:srgbClr val="002060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357" name="Google Shape;357;p22" descr="12083559_Wavy_Bus-23_Single-09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456613" y="2012950"/>
            <a:ext cx="3611562" cy="3378200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22"/>
          <p:cNvSpPr/>
          <p:nvPr/>
        </p:nvSpPr>
        <p:spPr>
          <a:xfrm>
            <a:off x="704850" y="1562100"/>
            <a:ext cx="7605713" cy="1071563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12700" cap="flat" cmpd="sng">
            <a:solidFill>
              <a:srgbClr val="5B84A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22"/>
          <p:cNvSpPr txBox="1"/>
          <p:nvPr/>
        </p:nvSpPr>
        <p:spPr>
          <a:xfrm>
            <a:off x="1082675" y="1657350"/>
            <a:ext cx="6881813" cy="1106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IN" sz="22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Defensive programming is a technique that makes programs more robust to unexpected events .</a:t>
            </a:r>
            <a:endParaRPr sz="2200" b="0" i="0" u="none" strike="noStrike" cap="none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0" i="0" u="none" strike="noStrike" cap="none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2"/>
          <p:cNvSpPr/>
          <p:nvPr/>
        </p:nvSpPr>
        <p:spPr>
          <a:xfrm>
            <a:off x="681038" y="2778125"/>
            <a:ext cx="7629525" cy="1047750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12700" cap="flat" cmpd="sng">
            <a:solidFill>
              <a:srgbClr val="5B84A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22"/>
          <p:cNvSpPr txBox="1"/>
          <p:nvPr/>
        </p:nvSpPr>
        <p:spPr>
          <a:xfrm>
            <a:off x="609600" y="2911475"/>
            <a:ext cx="706755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parajita"/>
              <a:buNone/>
            </a:pPr>
            <a:r>
              <a:rPr lang="en-IN" sz="22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Less program "crashes" at run time ,It increases the quality of software.</a:t>
            </a:r>
            <a:endParaRPr sz="2200" b="0" i="0" u="none" strike="noStrike" cap="none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parajita"/>
              <a:buNone/>
            </a:pPr>
            <a:endParaRPr sz="2200" b="0" i="0" u="none" strike="noStrike" cap="none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2"/>
          <p:cNvSpPr/>
          <p:nvPr/>
        </p:nvSpPr>
        <p:spPr>
          <a:xfrm>
            <a:off x="681038" y="4041775"/>
            <a:ext cx="7629525" cy="1922463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12700" cap="flat" cmpd="sng">
            <a:solidFill>
              <a:srgbClr val="5B84A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22"/>
          <p:cNvSpPr txBox="1"/>
          <p:nvPr/>
        </p:nvSpPr>
        <p:spPr>
          <a:xfrm>
            <a:off x="1082675" y="4295775"/>
            <a:ext cx="6827838" cy="1444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IN" sz="22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Defensive Programming is the concept of avoiding the exceptional situations to occur, even before it can occur, and exception handling is about handling an exception after it has happened</a:t>
            </a:r>
            <a:r>
              <a:rPr lang="en-IN"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4" name="Google Shape;364;p22" descr="Aitrich-Logo-Transparent-BG-1536x50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6353175"/>
            <a:ext cx="1546225" cy="38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3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3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3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9" name="Google Shape;369;p23" descr="Picture1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900363" y="665163"/>
            <a:ext cx="7408862" cy="552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23" descr="side-view-hand-pointi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949450"/>
            <a:ext cx="2663825" cy="2513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23" descr="Aitrich-Logo-Transparent-BG-1536x50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2400" y="6353175"/>
            <a:ext cx="1546225" cy="384175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23"/>
          <p:cNvSpPr txBox="1"/>
          <p:nvPr/>
        </p:nvSpPr>
        <p:spPr>
          <a:xfrm>
            <a:off x="136525" y="215900"/>
            <a:ext cx="3057525" cy="522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 i="0" u="none" strike="noStrike" cap="none">
                <a:solidFill>
                  <a:srgbClr val="000000"/>
                </a:solidFill>
                <a:latin typeface="Bell MT"/>
                <a:ea typeface="Bell MT"/>
                <a:cs typeface="Bell MT"/>
                <a:sym typeface="Bell MT"/>
              </a:rPr>
              <a:t>   Example:</a:t>
            </a:r>
            <a:endParaRPr sz="2800" b="1" i="0" u="none" strike="noStrike" cap="none">
              <a:solidFill>
                <a:srgbClr val="000000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373" name="Google Shape;373;p2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089275" y="1077913"/>
            <a:ext cx="6980238" cy="49291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Bell MT"/>
              <a:buNone/>
            </a:pPr>
            <a:r>
              <a:rPr lang="en-IN" sz="4400">
                <a:solidFill>
                  <a:srgbClr val="002060"/>
                </a:solidFill>
                <a:latin typeface="Bell MT"/>
                <a:ea typeface="Bell MT"/>
                <a:cs typeface="Bell MT"/>
                <a:sym typeface="Bell MT"/>
              </a:rPr>
              <a:t>Defensive Programming Strategies</a:t>
            </a:r>
            <a:endParaRPr sz="4400"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379" name="Google Shape;379;p24" descr="6504173_3327598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4122738" y="1914525"/>
            <a:ext cx="4297362" cy="4297363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24"/>
          <p:cNvSpPr/>
          <p:nvPr/>
        </p:nvSpPr>
        <p:spPr>
          <a:xfrm>
            <a:off x="7639050" y="1685925"/>
            <a:ext cx="4198938" cy="1219200"/>
          </a:xfrm>
          <a:prstGeom prst="wedgeRoundRectCallout">
            <a:avLst>
              <a:gd name="adj1" fmla="val -20833"/>
              <a:gd name="adj2" fmla="val 62500"/>
              <a:gd name="adj3" fmla="val 16667"/>
            </a:avLst>
          </a:prstGeom>
          <a:solidFill>
            <a:srgbClr val="002060"/>
          </a:solidFill>
          <a:ln w="12700" cap="flat" cmpd="sng">
            <a:solidFill>
              <a:srgbClr val="5B84A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24"/>
          <p:cNvSpPr/>
          <p:nvPr/>
        </p:nvSpPr>
        <p:spPr>
          <a:xfrm>
            <a:off x="8648700" y="3387725"/>
            <a:ext cx="3048000" cy="9525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rgbClr val="002060"/>
          </a:solidFill>
          <a:ln w="12700" cap="flat" cmpd="sng">
            <a:solidFill>
              <a:srgbClr val="5B84A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IN" sz="22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Use Safe Parsing</a:t>
            </a:r>
            <a:endParaRPr sz="2200" b="0" i="0" u="none" strike="noStrike" cap="none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4"/>
          <p:cNvSpPr/>
          <p:nvPr/>
        </p:nvSpPr>
        <p:spPr>
          <a:xfrm>
            <a:off x="7639050" y="5137150"/>
            <a:ext cx="3048000" cy="950913"/>
          </a:xfrm>
          <a:prstGeom prst="wedgeRoundRectCallout">
            <a:avLst>
              <a:gd name="adj1" fmla="val -20833"/>
              <a:gd name="adj2" fmla="val 62500"/>
              <a:gd name="adj3" fmla="val 16667"/>
            </a:avLst>
          </a:prstGeom>
          <a:solidFill>
            <a:srgbClr val="002060"/>
          </a:solidFill>
          <a:ln w="12700" cap="flat" cmpd="sng">
            <a:solidFill>
              <a:srgbClr val="5B84A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parajita"/>
              <a:buNone/>
            </a:pPr>
            <a:r>
              <a:rPr lang="en-IN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lang="en-IN" sz="2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Use Safe Parsing</a:t>
            </a:r>
            <a:r>
              <a:rPr lang="en-IN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4"/>
          <p:cNvSpPr/>
          <p:nvPr/>
        </p:nvSpPr>
        <p:spPr>
          <a:xfrm>
            <a:off x="1409700" y="1800225"/>
            <a:ext cx="3048000" cy="990600"/>
          </a:xfrm>
          <a:prstGeom prst="wedgeRoundRectCallout">
            <a:avLst>
              <a:gd name="adj1" fmla="val -20833"/>
              <a:gd name="adj2" fmla="val 62500"/>
              <a:gd name="adj3" fmla="val 16667"/>
            </a:avLst>
          </a:prstGeom>
          <a:solidFill>
            <a:srgbClr val="002060"/>
          </a:solidFill>
          <a:ln w="12700" cap="flat" cmpd="sng">
            <a:solidFill>
              <a:srgbClr val="5B84A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24"/>
          <p:cNvSpPr/>
          <p:nvPr/>
        </p:nvSpPr>
        <p:spPr>
          <a:xfrm>
            <a:off x="495300" y="3387725"/>
            <a:ext cx="3048000" cy="950913"/>
          </a:xfrm>
          <a:prstGeom prst="wedgeRoundRectCallout">
            <a:avLst>
              <a:gd name="adj1" fmla="val -20833"/>
              <a:gd name="adj2" fmla="val 62500"/>
              <a:gd name="adj3" fmla="val 16667"/>
            </a:avLst>
          </a:prstGeom>
          <a:solidFill>
            <a:srgbClr val="002060"/>
          </a:solidFill>
          <a:ln w="12700" cap="flat" cmpd="sng">
            <a:solidFill>
              <a:srgbClr val="5B84A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24"/>
          <p:cNvSpPr/>
          <p:nvPr/>
        </p:nvSpPr>
        <p:spPr>
          <a:xfrm>
            <a:off x="495300" y="5073650"/>
            <a:ext cx="3981450" cy="950913"/>
          </a:xfrm>
          <a:prstGeom prst="wedgeRoundRectCallout">
            <a:avLst>
              <a:gd name="adj1" fmla="val -20833"/>
              <a:gd name="adj2" fmla="val 62500"/>
              <a:gd name="adj3" fmla="val 16667"/>
            </a:avLst>
          </a:prstGeom>
          <a:solidFill>
            <a:srgbClr val="002060"/>
          </a:solidFill>
          <a:ln w="12700" cap="flat" cmpd="sng">
            <a:solidFill>
              <a:srgbClr val="5B84A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24"/>
          <p:cNvSpPr txBox="1"/>
          <p:nvPr/>
        </p:nvSpPr>
        <p:spPr>
          <a:xfrm>
            <a:off x="1657350" y="2036763"/>
            <a:ext cx="2876550" cy="430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Check For Nulls</a:t>
            </a:r>
            <a:endParaRPr sz="2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4"/>
          <p:cNvSpPr txBox="1"/>
          <p:nvPr/>
        </p:nvSpPr>
        <p:spPr>
          <a:xfrm>
            <a:off x="609600" y="3606800"/>
            <a:ext cx="5486400" cy="430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IN" sz="22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Check Object State</a:t>
            </a:r>
            <a:endParaRPr sz="2200" b="0" i="0" u="none" strike="noStrike" cap="none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4"/>
          <p:cNvSpPr txBox="1"/>
          <p:nvPr/>
        </p:nvSpPr>
        <p:spPr>
          <a:xfrm>
            <a:off x="977900" y="5175250"/>
            <a:ext cx="347980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IN" sz="22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Check Your Arguments</a:t>
            </a:r>
            <a:endParaRPr sz="2200" b="0" i="0" u="none" strike="noStrike" cap="none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0" i="0" u="none" strike="noStrike" cap="none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4"/>
          <p:cNvSpPr txBox="1"/>
          <p:nvPr/>
        </p:nvSpPr>
        <p:spPr>
          <a:xfrm>
            <a:off x="7781925" y="1914525"/>
            <a:ext cx="3914775" cy="1106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IN" sz="22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Be Careful When Working with Arrays</a:t>
            </a:r>
            <a:endParaRPr sz="2200" b="0" i="0" u="none" strike="noStrike" cap="none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0" i="0" u="none" strike="noStrike" cap="none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0" name="Google Shape;390;p24" descr="Aitrich-Logo-Transparent-BG-1536x50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6353175"/>
            <a:ext cx="1546225" cy="38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3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3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3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3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3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None/>
            </a:pPr>
            <a:br>
              <a:rPr lang="en-IN" sz="44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 sz="4400">
                <a:solidFill>
                  <a:srgbClr val="002060"/>
                </a:solidFill>
                <a:latin typeface="Bell MT"/>
                <a:ea typeface="Bell MT"/>
                <a:cs typeface="Bell MT"/>
                <a:sym typeface="Bell MT"/>
              </a:rPr>
              <a:t>Best Practices for Handling Exceptions</a:t>
            </a:r>
            <a:br>
              <a:rPr lang="en-IN" sz="4400">
                <a:latin typeface="Bell MT"/>
                <a:ea typeface="Bell MT"/>
                <a:cs typeface="Bell MT"/>
                <a:sym typeface="Bell MT"/>
              </a:rPr>
            </a:br>
            <a:endParaRPr sz="44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396" name="Google Shape;396;p25"/>
          <p:cNvSpPr/>
          <p:nvPr/>
        </p:nvSpPr>
        <p:spPr>
          <a:xfrm>
            <a:off x="847725" y="1579563"/>
            <a:ext cx="10210800" cy="1208087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12700" cap="flat" cmpd="sng">
            <a:solidFill>
              <a:srgbClr val="5B84A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7" name="Google Shape;397;p25" descr="3d-render-thumb-up-sign-isolated-hand-gesture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0099675" y="3683000"/>
            <a:ext cx="2092325" cy="290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25"/>
          <p:cNvSpPr txBox="1"/>
          <p:nvPr/>
        </p:nvSpPr>
        <p:spPr>
          <a:xfrm>
            <a:off x="838200" y="1797050"/>
            <a:ext cx="10315575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IN" sz="22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A well-designed set of error handling code blocks can make a program more robust and less prone to crashing the application</a:t>
            </a:r>
            <a:endParaRPr sz="2200" b="0" i="0" u="none" strike="noStrike" cap="none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5"/>
          <p:cNvSpPr/>
          <p:nvPr/>
        </p:nvSpPr>
        <p:spPr>
          <a:xfrm>
            <a:off x="838200" y="3165475"/>
            <a:ext cx="9124950" cy="1009650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12700" cap="flat" cmpd="sng">
            <a:solidFill>
              <a:srgbClr val="5B84A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25"/>
          <p:cNvSpPr txBox="1"/>
          <p:nvPr/>
        </p:nvSpPr>
        <p:spPr>
          <a:xfrm>
            <a:off x="981075" y="3440113"/>
            <a:ext cx="8734425" cy="430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IN" sz="22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Know when to use a try/catch block</a:t>
            </a:r>
            <a:endParaRPr sz="2200" b="0" i="0" u="none" strike="noStrike" cap="none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5"/>
          <p:cNvSpPr/>
          <p:nvPr/>
        </p:nvSpPr>
        <p:spPr>
          <a:xfrm>
            <a:off x="847725" y="4554538"/>
            <a:ext cx="9124950" cy="1169987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12700" cap="flat" cmpd="sng">
            <a:solidFill>
              <a:srgbClr val="5B84A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25"/>
          <p:cNvSpPr txBox="1"/>
          <p:nvPr/>
        </p:nvSpPr>
        <p:spPr>
          <a:xfrm>
            <a:off x="838200" y="4752975"/>
            <a:ext cx="912495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parajita"/>
              <a:buNone/>
            </a:pPr>
            <a:r>
              <a:rPr lang="en-IN" sz="22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Use try/finally blocks around code that can potentially generate an exception and centralize your catch statements in one location.</a:t>
            </a:r>
            <a:endParaRPr sz="2200" b="0" i="0" u="none" strike="noStrike" cap="none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3" name="Google Shape;403;p25" descr="Aitrich-Logo-Transparent-BG-1536x504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263525" y="6102350"/>
            <a:ext cx="1546225" cy="50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3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4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6"/>
          <p:cNvSpPr/>
          <p:nvPr/>
        </p:nvSpPr>
        <p:spPr>
          <a:xfrm>
            <a:off x="666750" y="784225"/>
            <a:ext cx="10572750" cy="1009650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12700" cap="flat" cmpd="sng">
            <a:solidFill>
              <a:srgbClr val="5B84A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9" name="Google Shape;409;p26" descr="3d-render-thumb-up-sign-isolated-hand-gesture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9094788" y="3740150"/>
            <a:ext cx="2698750" cy="280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26"/>
          <p:cNvSpPr txBox="1"/>
          <p:nvPr/>
        </p:nvSpPr>
        <p:spPr>
          <a:xfrm>
            <a:off x="823913" y="922338"/>
            <a:ext cx="975360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IN" sz="22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End exception class names with the word "Exception".</a:t>
            </a:r>
            <a:endParaRPr sz="2200" b="0" i="0" u="none" strike="noStrike" cap="none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0" i="0" u="none" strike="noStrike" cap="none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6"/>
          <p:cNvSpPr/>
          <p:nvPr/>
        </p:nvSpPr>
        <p:spPr>
          <a:xfrm>
            <a:off x="666750" y="2185988"/>
            <a:ext cx="10572750" cy="1009650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12700" cap="flat" cmpd="sng">
            <a:solidFill>
              <a:srgbClr val="5B84A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parajita"/>
              <a:buNone/>
            </a:pPr>
            <a:r>
              <a:rPr lang="en-IN" sz="2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 C# and the Managed Extensions for C++, use at least the three common constructors when creating your own exception classes.</a:t>
            </a:r>
            <a:endParaRPr sz="2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6"/>
          <p:cNvSpPr/>
          <p:nvPr/>
        </p:nvSpPr>
        <p:spPr>
          <a:xfrm>
            <a:off x="666750" y="3740150"/>
            <a:ext cx="9167813" cy="1008063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12700" cap="flat" cmpd="sng">
            <a:solidFill>
              <a:srgbClr val="5B84A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parajita"/>
              <a:buNone/>
            </a:pPr>
            <a:r>
              <a:rPr lang="en-IN" sz="2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 grammatically correct error messages, including ending punctuation</a:t>
            </a:r>
            <a:endParaRPr sz="2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3" name="Google Shape;413;p26" descr="Aitrich-Logo-Transparent-BG-1536x50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6353175"/>
            <a:ext cx="1546225" cy="38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8" name="Google Shape;418;p27" descr="13561931_5274708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922338" y="1400175"/>
            <a:ext cx="10345737" cy="5202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27" descr="Aitrich-Logo-Transparent-BG-1536x504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298450" y="6140450"/>
            <a:ext cx="1546225" cy="5064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954</Words>
  <Application>Microsoft Office PowerPoint</Application>
  <PresentationFormat>Widescreen</PresentationFormat>
  <Paragraphs>157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Bell MT</vt:lpstr>
      <vt:lpstr>Calibri</vt:lpstr>
      <vt:lpstr>Aparajita</vt:lpstr>
      <vt:lpstr>Noto Sans Symbols</vt:lpstr>
      <vt:lpstr>Default Design</vt:lpstr>
      <vt:lpstr>PowerPoint Presentation</vt:lpstr>
      <vt:lpstr>CONTENTS</vt:lpstr>
      <vt:lpstr>CONTENTS</vt:lpstr>
      <vt:lpstr>What Is Exception???</vt:lpstr>
      <vt:lpstr>Why should we catch exceptions </vt:lpstr>
      <vt:lpstr>PowerPoint Presentation</vt:lpstr>
      <vt:lpstr>  </vt:lpstr>
      <vt:lpstr>PowerPoint Presentation</vt:lpstr>
      <vt:lpstr>Namespace</vt:lpstr>
      <vt:lpstr>PowerPoint Presentation</vt:lpstr>
      <vt:lpstr>What Is Exception Handling??</vt:lpstr>
      <vt:lpstr>PowerPoint Presentation</vt:lpstr>
      <vt:lpstr>PowerPoint Presentation</vt:lpstr>
      <vt:lpstr> try/catch Blocks </vt:lpstr>
      <vt:lpstr> Multiple Catch Blocks </vt:lpstr>
      <vt:lpstr>PowerPoint Presentation</vt:lpstr>
      <vt:lpstr>PowerPoint Presentation</vt:lpstr>
      <vt:lpstr> Finally Blocks  </vt:lpstr>
      <vt:lpstr>PowerPoint Presentation</vt:lpstr>
      <vt:lpstr>PowerPoint Presentation</vt:lpstr>
      <vt:lpstr>Application Exception</vt:lpstr>
      <vt:lpstr>Defensive Programming</vt:lpstr>
      <vt:lpstr>PowerPoint Presentation</vt:lpstr>
      <vt:lpstr>Defensive Programming Strategies</vt:lpstr>
      <vt:lpstr> Best Practices for Handling Exceptions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Lenovo</dc:creator>
  <cp:lastModifiedBy>Soumya P Raj</cp:lastModifiedBy>
  <cp:revision>1</cp:revision>
  <cp:lastPrinted>2026-03-10T06:51:23Z</cp:lastPrinted>
  <dcterms:created xsi:type="dcterms:W3CDTF">2023-06-05T11:31:00Z</dcterms:created>
  <dcterms:modified xsi:type="dcterms:W3CDTF">2026-03-10T06:52:40Z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9562160288C4473CADD7C5DF94C42276</vt:lpwstr>
  </property>
  <property fmtid="{D5CDD505-2E9C-101B-9397-08002B2CF9AE}" pid="3" name="KSOProductBuildVer">
    <vt:lpwstr>1033-11.2.0.11537</vt:lpwstr>
  </property>
</Properties>
</file>